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0"/>
  </p:notesMasterIdLst>
  <p:sldIdLst>
    <p:sldId id="256" r:id="rId2"/>
    <p:sldId id="257" r:id="rId3"/>
    <p:sldId id="281" r:id="rId4"/>
    <p:sldId id="258" r:id="rId5"/>
    <p:sldId id="259" r:id="rId6"/>
    <p:sldId id="278" r:id="rId7"/>
    <p:sldId id="262" r:id="rId8"/>
    <p:sldId id="280" r:id="rId9"/>
    <p:sldId id="279" r:id="rId10"/>
    <p:sldId id="263" r:id="rId11"/>
    <p:sldId id="264" r:id="rId12"/>
    <p:sldId id="266" r:id="rId13"/>
    <p:sldId id="271" r:id="rId14"/>
    <p:sldId id="276" r:id="rId15"/>
    <p:sldId id="282" r:id="rId16"/>
    <p:sldId id="267" r:id="rId17"/>
    <p:sldId id="274" r:id="rId18"/>
    <p:sldId id="27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32FDC9-C8FA-4DAC-AC5A-2F4F1E6CBE1D}" type="datetimeFigureOut">
              <a:t>5/8/2026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7F4D7B-D682-42B9-88C5-0CEAA7A063DD}" type="slidenum">
              <a:t>‹#›</a:t>
            </a:fld>
            <a:endParaRPr lang="en-US"/>
          </a:p>
        </p:txBody>
      </p:sp>
    </p:spTree>
    <p:extLst>
      <p:ext uri="{BB962C8B-B14F-4D97-AF65-F5344CB8AC3E}">
        <p14:creationId xmlns:p14="http://schemas.microsoft.com/office/powerpoint/2010/main" val="622254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5/8/2026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90887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5/8/2026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40177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5/8/2026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8058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5/8/2026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17354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5/8/2026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53041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5/8/2026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60283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5/8/2026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01333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5/8/2026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880825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5/8/2026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307188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5/8/2026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15493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5/8/2026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4261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5/8/2026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45030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github.com/JuliaCJ/FlexType-EMG-Keyboard/blob/main/Gesture_Recognition_CNN_New.ipynb" TargetMode="Externa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7BB98C6-B9A4-4038-1AAD-88AB83B92D85}"/>
              </a:ext>
            </a:extLst>
          </p:cNvPr>
          <p:cNvPicPr>
            <a:picLocks noChangeAspect="1"/>
          </p:cNvPicPr>
          <p:nvPr/>
        </p:nvPicPr>
        <p:blipFill>
          <a:blip r:embed="rId2"/>
          <a:srcRect l="9092" t="36066" r="-7" b="-7"/>
          <a:stretch>
            <a:fillRect/>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122AB34F-E75C-451A-8410-05B6C249E9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648484"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638061" y="914400"/>
            <a:ext cx="4892948" cy="3427867"/>
          </a:xfrm>
        </p:spPr>
        <p:txBody>
          <a:bodyPr anchor="t">
            <a:normAutofit/>
          </a:bodyPr>
          <a:lstStyle/>
          <a:p>
            <a:pPr algn="r"/>
            <a:r>
              <a:rPr lang="en-US" err="1">
                <a:solidFill>
                  <a:srgbClr val="FFFFFF"/>
                </a:solidFill>
              </a:rPr>
              <a:t>FlexType</a:t>
            </a:r>
            <a:r>
              <a:rPr lang="en-US">
                <a:solidFill>
                  <a:srgbClr val="FFFFFF"/>
                </a:solidFill>
              </a:rPr>
              <a:t> EMG Keyboard</a:t>
            </a:r>
          </a:p>
        </p:txBody>
      </p:sp>
      <p:sp>
        <p:nvSpPr>
          <p:cNvPr id="3" name="Subtitle 2"/>
          <p:cNvSpPr>
            <a:spLocks noGrp="1"/>
          </p:cNvSpPr>
          <p:nvPr>
            <p:ph type="subTitle" idx="1"/>
          </p:nvPr>
        </p:nvSpPr>
        <p:spPr>
          <a:xfrm>
            <a:off x="5543700" y="5201390"/>
            <a:ext cx="5987308" cy="1484516"/>
          </a:xfrm>
        </p:spPr>
        <p:txBody>
          <a:bodyPr anchor="t">
            <a:normAutofit fontScale="85000" lnSpcReduction="20000"/>
          </a:bodyPr>
          <a:lstStyle/>
          <a:p>
            <a:pPr algn="r"/>
            <a:r>
              <a:rPr lang="en-US">
                <a:solidFill>
                  <a:srgbClr val="FFFFFF"/>
                </a:solidFill>
              </a:rPr>
              <a:t>Julia Johnson </a:t>
            </a:r>
            <a:endParaRPr lang="en-US"/>
          </a:p>
          <a:p>
            <a:pPr algn="r"/>
            <a:r>
              <a:rPr lang="en-US">
                <a:solidFill>
                  <a:srgbClr val="FFFFFF"/>
                </a:solidFill>
              </a:rPr>
              <a:t>Giancarlos Hernandez Mendoza</a:t>
            </a:r>
          </a:p>
          <a:p>
            <a:pPr algn="r"/>
            <a:r>
              <a:rPr lang="en-US">
                <a:solidFill>
                  <a:srgbClr val="FFFFFF"/>
                </a:solidFill>
              </a:rPr>
              <a:t>Jalen Tottress </a:t>
            </a:r>
          </a:p>
          <a:p>
            <a:pPr algn="r"/>
            <a:r>
              <a:rPr lang="en-US">
                <a:solidFill>
                  <a:srgbClr val="FFFFFF"/>
                </a:solidFill>
              </a:rPr>
              <a:t>Kejon IverY</a:t>
            </a:r>
            <a:endParaRPr lang="en-US"/>
          </a:p>
        </p:txBody>
      </p:sp>
      <p:cxnSp>
        <p:nvCxnSpPr>
          <p:cNvPr id="13" name="Straight Connector 12">
            <a:extLst>
              <a:ext uri="{FF2B5EF4-FFF2-40B4-BE49-F238E27FC236}">
                <a16:creationId xmlns:a16="http://schemas.microsoft.com/office/drawing/2014/main" id="{97CC2FE6-3AD0-4131-B4BC-1F4D65E25E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438375" y="48612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ubtitle 2">
            <a:extLst>
              <a:ext uri="{FF2B5EF4-FFF2-40B4-BE49-F238E27FC236}">
                <a16:creationId xmlns:a16="http://schemas.microsoft.com/office/drawing/2014/main" id="{8DA3BE89-3127-6768-4912-D82DA69A317E}"/>
              </a:ext>
            </a:extLst>
          </p:cNvPr>
          <p:cNvSpPr txBox="1">
            <a:spLocks/>
          </p:cNvSpPr>
          <p:nvPr/>
        </p:nvSpPr>
        <p:spPr>
          <a:xfrm>
            <a:off x="7517151" y="4333485"/>
            <a:ext cx="3895037" cy="554618"/>
          </a:xfrm>
          <a:prstGeom prst="rect">
            <a:avLst/>
          </a:prstGeom>
        </p:spPr>
        <p:txBody>
          <a:bodyPr vert="horz" lIns="91440" tIns="45720" rIns="91440" bIns="45720" rtlCol="0" anchor="t">
            <a:normAutofit/>
          </a:bodyPr>
          <a:lstStyle>
            <a:lvl1pPr marL="0" indent="0" algn="l" defTabSz="914400" rtl="0" eaLnBrk="1" latinLnBrk="0" hangingPunct="1">
              <a:lnSpc>
                <a:spcPct val="130000"/>
              </a:lnSpc>
              <a:spcBef>
                <a:spcPts val="1000"/>
              </a:spcBef>
              <a:buSzPct val="87000"/>
              <a:buFont typeface="Arial" panose="020B0604020202020204" pitchFamily="34" charset="0"/>
              <a:buNone/>
              <a:defRPr sz="1800" b="1" kern="1200" cap="all" spc="300" baseline="0">
                <a:solidFill>
                  <a:schemeClr val="tx1"/>
                </a:solidFill>
                <a:latin typeface="+mn-lt"/>
                <a:ea typeface="+mn-ea"/>
                <a:cs typeface="+mn-cs"/>
              </a:defRPr>
            </a:lvl1pPr>
            <a:lvl2pPr marL="457200" indent="0" algn="ctr" defTabSz="914400" rtl="0" eaLnBrk="1" latinLnBrk="0" hangingPunct="1">
              <a:lnSpc>
                <a:spcPct val="120000"/>
              </a:lnSpc>
              <a:spcBef>
                <a:spcPts val="500"/>
              </a:spcBef>
              <a:buSzPct val="87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87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t>Half-Byte Solutions</a:t>
            </a: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8BC7E-E2C6-B42B-D2D5-847C1FCB3D9A}"/>
              </a:ext>
            </a:extLst>
          </p:cNvPr>
          <p:cNvSpPr>
            <a:spLocks noGrp="1"/>
          </p:cNvSpPr>
          <p:nvPr>
            <p:ph type="title"/>
          </p:nvPr>
        </p:nvSpPr>
        <p:spPr/>
        <p:txBody>
          <a:bodyPr/>
          <a:lstStyle/>
          <a:p>
            <a:r>
              <a:rPr lang="en-US"/>
              <a:t>Project Overview</a:t>
            </a:r>
          </a:p>
        </p:txBody>
      </p:sp>
      <p:sp>
        <p:nvSpPr>
          <p:cNvPr id="4" name="Text Placeholder 3">
            <a:extLst>
              <a:ext uri="{FF2B5EF4-FFF2-40B4-BE49-F238E27FC236}">
                <a16:creationId xmlns:a16="http://schemas.microsoft.com/office/drawing/2014/main" id="{187D7020-04B6-10D5-40D5-D539FEDEDDA6}"/>
              </a:ext>
            </a:extLst>
          </p:cNvPr>
          <p:cNvSpPr>
            <a:spLocks noGrp="1"/>
          </p:cNvSpPr>
          <p:nvPr>
            <p:ph type="body" idx="1"/>
          </p:nvPr>
        </p:nvSpPr>
        <p:spPr/>
        <p:txBody>
          <a:bodyPr/>
          <a:lstStyle/>
          <a:p>
            <a:r>
              <a:rPr lang="en-US"/>
              <a:t>Market Problems</a:t>
            </a:r>
          </a:p>
        </p:txBody>
      </p:sp>
      <p:sp>
        <p:nvSpPr>
          <p:cNvPr id="3" name="Content Placeholder 2">
            <a:extLst>
              <a:ext uri="{FF2B5EF4-FFF2-40B4-BE49-F238E27FC236}">
                <a16:creationId xmlns:a16="http://schemas.microsoft.com/office/drawing/2014/main" id="{759B3E4B-7DB9-3AED-8476-9407992DB13A}"/>
              </a:ext>
            </a:extLst>
          </p:cNvPr>
          <p:cNvSpPr>
            <a:spLocks noGrp="1"/>
          </p:cNvSpPr>
          <p:nvPr>
            <p:ph sz="half" idx="2"/>
          </p:nvPr>
        </p:nvSpPr>
        <p:spPr/>
        <p:txBody>
          <a:bodyPr vert="horz" lIns="91440" tIns="45720" rIns="91440" bIns="45720" rtlCol="0" anchor="t">
            <a:normAutofit fontScale="85000" lnSpcReduction="10000"/>
          </a:bodyPr>
          <a:lstStyle/>
          <a:p>
            <a:r>
              <a:rPr lang="en-US"/>
              <a:t>People with neurological disabilities have difficulty typing on standard keyboards</a:t>
            </a:r>
          </a:p>
          <a:p>
            <a:r>
              <a:rPr lang="en-US"/>
              <a:t>Voice-to-text is not private, and often does not work for people in loud areas, noise-restricted areas, or for people with diseases like Parkinson's</a:t>
            </a:r>
          </a:p>
          <a:p>
            <a:r>
              <a:rPr lang="en-US"/>
              <a:t>Other technologies, like eye-tracking devices, are often expensive and difficult to carry around</a:t>
            </a:r>
          </a:p>
        </p:txBody>
      </p:sp>
      <p:sp>
        <p:nvSpPr>
          <p:cNvPr id="5" name="Text Placeholder 4">
            <a:extLst>
              <a:ext uri="{FF2B5EF4-FFF2-40B4-BE49-F238E27FC236}">
                <a16:creationId xmlns:a16="http://schemas.microsoft.com/office/drawing/2014/main" id="{C64EC630-8758-34F2-F945-FE8450ADEBFF}"/>
              </a:ext>
            </a:extLst>
          </p:cNvPr>
          <p:cNvSpPr>
            <a:spLocks noGrp="1"/>
          </p:cNvSpPr>
          <p:nvPr>
            <p:ph type="body" sz="quarter" idx="3"/>
          </p:nvPr>
        </p:nvSpPr>
        <p:spPr/>
        <p:txBody>
          <a:bodyPr/>
          <a:lstStyle/>
          <a:p>
            <a:r>
              <a:rPr lang="en-US"/>
              <a:t>Our Solution</a:t>
            </a:r>
          </a:p>
        </p:txBody>
      </p:sp>
      <p:sp>
        <p:nvSpPr>
          <p:cNvPr id="6" name="Content Placeholder 5">
            <a:extLst>
              <a:ext uri="{FF2B5EF4-FFF2-40B4-BE49-F238E27FC236}">
                <a16:creationId xmlns:a16="http://schemas.microsoft.com/office/drawing/2014/main" id="{A975EF2C-3F9C-6D42-4243-7410F0B6F718}"/>
              </a:ext>
            </a:extLst>
          </p:cNvPr>
          <p:cNvSpPr>
            <a:spLocks noGrp="1"/>
          </p:cNvSpPr>
          <p:nvPr>
            <p:ph sz="quarter" idx="4"/>
          </p:nvPr>
        </p:nvSpPr>
        <p:spPr/>
        <p:txBody>
          <a:bodyPr vert="horz" lIns="91440" tIns="45720" rIns="91440" bIns="45720" rtlCol="0" anchor="t">
            <a:normAutofit fontScale="85000" lnSpcReduction="10000"/>
          </a:bodyPr>
          <a:lstStyle/>
          <a:p>
            <a:r>
              <a:rPr lang="en-US"/>
              <a:t>A lightweight, wearable </a:t>
            </a:r>
            <a:r>
              <a:rPr lang="en-US">
                <a:ea typeface="+mn-lt"/>
                <a:cs typeface="+mn-lt"/>
              </a:rPr>
              <a:t>electromyography</a:t>
            </a:r>
            <a:r>
              <a:rPr lang="en-US">
                <a:solidFill>
                  <a:srgbClr val="000000"/>
                </a:solidFill>
                <a:ea typeface="+mn-lt"/>
                <a:cs typeface="+mn-lt"/>
              </a:rPr>
              <a:t> </a:t>
            </a:r>
            <a:r>
              <a:rPr lang="en-US"/>
              <a:t>(EMG) armband worn around the arm </a:t>
            </a:r>
          </a:p>
          <a:p>
            <a:r>
              <a:rPr lang="en-US"/>
              <a:t>The EMG picks up signals from muscle movements and sends them to our PCB</a:t>
            </a:r>
          </a:p>
          <a:p>
            <a:r>
              <a:rPr lang="en-US"/>
              <a:t>The PCB uses a custom made CNN model to determine which gesture is being made</a:t>
            </a:r>
          </a:p>
          <a:p>
            <a:r>
              <a:rPr lang="en-US"/>
              <a:t>Gestures are converted into letter groups, then passed into the existing </a:t>
            </a:r>
            <a:r>
              <a:rPr lang="en-US" err="1"/>
              <a:t>FlexType</a:t>
            </a:r>
            <a:r>
              <a:rPr lang="en-US"/>
              <a:t> Word Prediction model to type in the predicted word</a:t>
            </a:r>
          </a:p>
        </p:txBody>
      </p:sp>
      <p:pic>
        <p:nvPicPr>
          <p:cNvPr id="7" name="Picture 6" descr="EMG-based Hand Gesture Recognition in VR - MindRove">
            <a:extLst>
              <a:ext uri="{FF2B5EF4-FFF2-40B4-BE49-F238E27FC236}">
                <a16:creationId xmlns:a16="http://schemas.microsoft.com/office/drawing/2014/main" id="{56E056A5-6F4A-3270-D421-B67E3B16098D}"/>
              </a:ext>
            </a:extLst>
          </p:cNvPr>
          <p:cNvPicPr>
            <a:picLocks noChangeAspect="1"/>
          </p:cNvPicPr>
          <p:nvPr/>
        </p:nvPicPr>
        <p:blipFill>
          <a:blip r:embed="rId2"/>
          <a:stretch>
            <a:fillRect/>
          </a:stretch>
        </p:blipFill>
        <p:spPr>
          <a:xfrm>
            <a:off x="7979045" y="-3067"/>
            <a:ext cx="4215536" cy="2408371"/>
          </a:xfrm>
          <a:prstGeom prst="rect">
            <a:avLst/>
          </a:prstGeom>
        </p:spPr>
      </p:pic>
    </p:spTree>
    <p:extLst>
      <p:ext uri="{BB962C8B-B14F-4D97-AF65-F5344CB8AC3E}">
        <p14:creationId xmlns:p14="http://schemas.microsoft.com/office/powerpoint/2010/main" val="3733639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8C738-D84B-4346-A055-E9358952DB93}"/>
            </a:ext>
          </a:extLst>
        </p:cNvPr>
        <p:cNvGrpSpPr/>
        <p:nvPr/>
      </p:nvGrpSpPr>
      <p:grpSpPr>
        <a:xfrm>
          <a:off x="0" y="0"/>
          <a:ext cx="0" cy="0"/>
          <a:chOff x="0" y="0"/>
          <a:chExt cx="0" cy="0"/>
        </a:xfrm>
      </p:grpSpPr>
      <p:pic>
        <p:nvPicPr>
          <p:cNvPr id="10" name="Picture 9" descr="A black stopwatch with a needle&#10;&#10;AI-generated content may be incorrect.">
            <a:extLst>
              <a:ext uri="{FF2B5EF4-FFF2-40B4-BE49-F238E27FC236}">
                <a16:creationId xmlns:a16="http://schemas.microsoft.com/office/drawing/2014/main" id="{9CDF608B-8AA7-EC60-3E06-3EFC2805C50D}"/>
              </a:ext>
            </a:extLst>
          </p:cNvPr>
          <p:cNvPicPr>
            <a:picLocks noChangeAspect="1"/>
          </p:cNvPicPr>
          <p:nvPr/>
        </p:nvPicPr>
        <p:blipFill>
          <a:blip r:embed="rId2">
            <a:alphaModFix amt="31000"/>
          </a:blip>
          <a:srcRect l="27251" t="21613" r="27321" b="19809"/>
          <a:stretch>
            <a:fillRect/>
          </a:stretch>
        </p:blipFill>
        <p:spPr>
          <a:xfrm>
            <a:off x="3485070" y="111219"/>
            <a:ext cx="5205914" cy="6652345"/>
          </a:xfrm>
          <a:prstGeom prst="rect">
            <a:avLst/>
          </a:prstGeom>
        </p:spPr>
      </p:pic>
      <p:sp>
        <p:nvSpPr>
          <p:cNvPr id="2" name="Title 1">
            <a:extLst>
              <a:ext uri="{FF2B5EF4-FFF2-40B4-BE49-F238E27FC236}">
                <a16:creationId xmlns:a16="http://schemas.microsoft.com/office/drawing/2014/main" id="{D392ADAA-B9E5-0E94-1A06-9052CAF9176C}"/>
              </a:ext>
            </a:extLst>
          </p:cNvPr>
          <p:cNvSpPr>
            <a:spLocks noGrp="1"/>
          </p:cNvSpPr>
          <p:nvPr>
            <p:ph type="title"/>
          </p:nvPr>
        </p:nvSpPr>
        <p:spPr/>
        <p:txBody>
          <a:bodyPr/>
          <a:lstStyle/>
          <a:p>
            <a:r>
              <a:rPr lang="en-US"/>
              <a:t>Recap of Milestone #1</a:t>
            </a:r>
          </a:p>
        </p:txBody>
      </p:sp>
      <p:sp>
        <p:nvSpPr>
          <p:cNvPr id="8" name="Text Placeholder 7">
            <a:extLst>
              <a:ext uri="{FF2B5EF4-FFF2-40B4-BE49-F238E27FC236}">
                <a16:creationId xmlns:a16="http://schemas.microsoft.com/office/drawing/2014/main" id="{49175493-899F-7EF7-6CC1-A8580FD0CB80}"/>
              </a:ext>
            </a:extLst>
          </p:cNvPr>
          <p:cNvSpPr>
            <a:spLocks noGrp="1"/>
          </p:cNvSpPr>
          <p:nvPr>
            <p:ph type="body" idx="1"/>
          </p:nvPr>
        </p:nvSpPr>
        <p:spPr>
          <a:xfrm>
            <a:off x="640079" y="2081314"/>
            <a:ext cx="5212080" cy="695373"/>
          </a:xfrm>
        </p:spPr>
        <p:txBody>
          <a:bodyPr/>
          <a:lstStyle/>
          <a:p>
            <a:r>
              <a:rPr lang="en-US"/>
              <a:t>Software</a:t>
            </a:r>
          </a:p>
        </p:txBody>
      </p:sp>
      <p:sp>
        <p:nvSpPr>
          <p:cNvPr id="4" name="Content Placeholder 3">
            <a:extLst>
              <a:ext uri="{FF2B5EF4-FFF2-40B4-BE49-F238E27FC236}">
                <a16:creationId xmlns:a16="http://schemas.microsoft.com/office/drawing/2014/main" id="{7D44317C-E95D-94AB-0747-D2C22340B46E}"/>
              </a:ext>
            </a:extLst>
          </p:cNvPr>
          <p:cNvSpPr>
            <a:spLocks noGrp="1"/>
          </p:cNvSpPr>
          <p:nvPr>
            <p:ph sz="half" idx="2"/>
          </p:nvPr>
        </p:nvSpPr>
        <p:spPr>
          <a:xfrm>
            <a:off x="640079" y="2776687"/>
            <a:ext cx="5212080" cy="3191256"/>
          </a:xfrm>
        </p:spPr>
        <p:txBody>
          <a:bodyPr vert="horz" lIns="91440" tIns="45720" rIns="91440" bIns="45720" rtlCol="0" anchor="t">
            <a:normAutofit fontScale="85000" lnSpcReduction="10000"/>
          </a:bodyPr>
          <a:lstStyle/>
          <a:p>
            <a:r>
              <a:rPr lang="en-US" b="1"/>
              <a:t>Had to Update How We Take In Gesture Data</a:t>
            </a:r>
          </a:p>
          <a:p>
            <a:pPr marL="493395" lvl="1">
              <a:buFont typeface="Courier New" panose="020B0604020202020204" pitchFamily="34" charset="0"/>
              <a:buChar char="o"/>
            </a:pPr>
            <a:r>
              <a:rPr lang="en-US"/>
              <a:t>Initially took in gestures at 1 second intervals</a:t>
            </a:r>
          </a:p>
          <a:p>
            <a:pPr marL="493395" lvl="1">
              <a:buFont typeface="Courier New" panose="020B0604020202020204" pitchFamily="34" charset="0"/>
              <a:buChar char="o"/>
            </a:pPr>
            <a:r>
              <a:rPr lang="en-US"/>
              <a:t>Updated to take in at 7 second periods, with 2 seconds of rest, 3 seconds of gesture, 2 seconds of rest</a:t>
            </a:r>
          </a:p>
          <a:p>
            <a:pPr marL="493395" lvl="1">
              <a:buFont typeface="Courier New" panose="020B0604020202020204" pitchFamily="34" charset="0"/>
              <a:buChar char="o"/>
            </a:pPr>
            <a:r>
              <a:rPr lang="en-US"/>
              <a:t>Struggled to get many volunteers</a:t>
            </a:r>
          </a:p>
          <a:p>
            <a:r>
              <a:rPr lang="en-US" b="1"/>
              <a:t>Gesture Prediction Model at 60% Accuracy</a:t>
            </a:r>
          </a:p>
          <a:p>
            <a:pPr marL="493395" lvl="1">
              <a:buFont typeface="Courier New" panose="020B0604020202020204" pitchFamily="34" charset="0"/>
              <a:buChar char="o"/>
            </a:pPr>
            <a:r>
              <a:rPr lang="en-US"/>
              <a:t>Did not achieve goal of at least ~75% accuracy</a:t>
            </a:r>
          </a:p>
          <a:p>
            <a:pPr marL="493395" lvl="1">
              <a:buFont typeface="Courier New" panose="020B0604020202020204" pitchFamily="34" charset="0"/>
              <a:buChar char="o"/>
            </a:pPr>
            <a:r>
              <a:rPr lang="en-US"/>
              <a:t>Was not able to isolate best/ worst gestures</a:t>
            </a:r>
          </a:p>
          <a:p>
            <a:pPr marL="493395" lvl="1">
              <a:buFont typeface="Courier New" panose="020B0604020202020204" pitchFamily="34" charset="0"/>
              <a:buChar char="o"/>
            </a:pPr>
            <a:endParaRPr lang="en-US"/>
          </a:p>
          <a:p>
            <a:endParaRPr lang="en-US" b="1"/>
          </a:p>
        </p:txBody>
      </p:sp>
      <p:sp>
        <p:nvSpPr>
          <p:cNvPr id="9" name="Text Placeholder 8">
            <a:extLst>
              <a:ext uri="{FF2B5EF4-FFF2-40B4-BE49-F238E27FC236}">
                <a16:creationId xmlns:a16="http://schemas.microsoft.com/office/drawing/2014/main" id="{11C53F4D-167E-7417-05FA-F3DBE78AC591}"/>
              </a:ext>
            </a:extLst>
          </p:cNvPr>
          <p:cNvSpPr>
            <a:spLocks noGrp="1"/>
          </p:cNvSpPr>
          <p:nvPr>
            <p:ph type="body" sz="quarter" idx="3"/>
          </p:nvPr>
        </p:nvSpPr>
        <p:spPr>
          <a:xfrm>
            <a:off x="6318928" y="2081314"/>
            <a:ext cx="5212080" cy="695373"/>
          </a:xfrm>
        </p:spPr>
        <p:txBody>
          <a:bodyPr/>
          <a:lstStyle/>
          <a:p>
            <a:r>
              <a:rPr lang="en-US"/>
              <a:t>Hardware</a:t>
            </a:r>
          </a:p>
        </p:txBody>
      </p:sp>
      <p:sp>
        <p:nvSpPr>
          <p:cNvPr id="7" name="Content Placeholder 6">
            <a:extLst>
              <a:ext uri="{FF2B5EF4-FFF2-40B4-BE49-F238E27FC236}">
                <a16:creationId xmlns:a16="http://schemas.microsoft.com/office/drawing/2014/main" id="{D2C8265D-4AAE-298E-3571-A5E91420DBEB}"/>
              </a:ext>
            </a:extLst>
          </p:cNvPr>
          <p:cNvSpPr>
            <a:spLocks noGrp="1"/>
          </p:cNvSpPr>
          <p:nvPr>
            <p:ph sz="quarter" idx="4"/>
          </p:nvPr>
        </p:nvSpPr>
        <p:spPr>
          <a:xfrm>
            <a:off x="6318928" y="2776687"/>
            <a:ext cx="5212080" cy="3191256"/>
          </a:xfrm>
        </p:spPr>
        <p:txBody>
          <a:bodyPr vert="horz" lIns="91440" tIns="45720" rIns="91440" bIns="45720" rtlCol="0" anchor="t">
            <a:normAutofit fontScale="85000" lnSpcReduction="10000"/>
          </a:bodyPr>
          <a:lstStyle/>
          <a:p>
            <a:r>
              <a:rPr lang="en-US" sz="1900" b="1"/>
              <a:t>Completed the PCB designs</a:t>
            </a:r>
          </a:p>
          <a:p>
            <a:pPr marL="493395" lvl="1">
              <a:buFont typeface="Courier New" panose="020B0604020202020204" pitchFamily="34" charset="0"/>
              <a:buChar char="o"/>
            </a:pPr>
            <a:r>
              <a:rPr lang="en-US" sz="1700"/>
              <a:t>Created two PCBs, a control board and an electrode board</a:t>
            </a:r>
          </a:p>
          <a:p>
            <a:pPr marL="493395" lvl="1">
              <a:buFont typeface="Courier New" panose="020B0604020202020204" pitchFamily="34" charset="0"/>
              <a:buChar char="o"/>
            </a:pPr>
            <a:r>
              <a:rPr lang="en-US" sz="1700"/>
              <a:t>Electrode board gathers the EMG signals and sends them to the control board</a:t>
            </a:r>
          </a:p>
          <a:p>
            <a:pPr marL="493395" lvl="1">
              <a:buFont typeface="Courier New" panose="020B0604020202020204" pitchFamily="34" charset="0"/>
              <a:buChar char="o"/>
            </a:pPr>
            <a:r>
              <a:rPr lang="en-US" sz="1700"/>
              <a:t>Control board processes the sent signals to be used in our models</a:t>
            </a:r>
          </a:p>
          <a:p>
            <a:r>
              <a:rPr lang="en-US" sz="1900" b="1"/>
              <a:t>Created the BOM list for purchasing the components</a:t>
            </a:r>
          </a:p>
          <a:p>
            <a:pPr marL="493395" lvl="1">
              <a:buFont typeface="Courier New" panose="020B0604020202020204" pitchFamily="34" charset="0"/>
              <a:buChar char="o"/>
            </a:pPr>
            <a:r>
              <a:rPr lang="en-US" sz="1700"/>
              <a:t>Created a BOM list for 2 control board and 5 electrode boards. Which came out to be 63$ and 121$ respectively.</a:t>
            </a:r>
          </a:p>
          <a:p>
            <a:r>
              <a:rPr lang="en-US" sz="1900" b="1"/>
              <a:t>Started drafting up our enclosures for the PCBs</a:t>
            </a:r>
          </a:p>
          <a:p>
            <a:pPr marL="493395" lvl="1">
              <a:buFont typeface="Courier New" panose="020B0604020202020204" pitchFamily="34" charset="0"/>
              <a:buChar char="o"/>
            </a:pPr>
            <a:endParaRPr lang="en-US" sz="1900"/>
          </a:p>
          <a:p>
            <a:pPr marL="493395" lvl="1">
              <a:buFont typeface="Courier New" panose="020B0604020202020204" pitchFamily="34" charset="0"/>
              <a:buChar char="o"/>
            </a:pPr>
            <a:endParaRPr lang="en-US" sz="1700"/>
          </a:p>
        </p:txBody>
      </p:sp>
    </p:spTree>
    <p:extLst>
      <p:ext uri="{BB962C8B-B14F-4D97-AF65-F5344CB8AC3E}">
        <p14:creationId xmlns:p14="http://schemas.microsoft.com/office/powerpoint/2010/main" val="1827295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Goals - Free business icons">
            <a:extLst>
              <a:ext uri="{FF2B5EF4-FFF2-40B4-BE49-F238E27FC236}">
                <a16:creationId xmlns:a16="http://schemas.microsoft.com/office/drawing/2014/main" id="{D909FCB2-4172-0F6B-E63A-2BB052CCDE6B}"/>
              </a:ext>
            </a:extLst>
          </p:cNvPr>
          <p:cNvPicPr>
            <a:picLocks noChangeAspect="1"/>
          </p:cNvPicPr>
          <p:nvPr/>
        </p:nvPicPr>
        <p:blipFill>
          <a:blip r:embed="rId2">
            <a:alphaModFix amt="40000"/>
          </a:blip>
          <a:stretch>
            <a:fillRect/>
          </a:stretch>
        </p:blipFill>
        <p:spPr>
          <a:xfrm>
            <a:off x="3643222" y="1091242"/>
            <a:ext cx="4876800" cy="4876800"/>
          </a:xfrm>
          <a:prstGeom prst="rect">
            <a:avLst/>
          </a:prstGeom>
        </p:spPr>
      </p:pic>
      <p:sp>
        <p:nvSpPr>
          <p:cNvPr id="2" name="Title 1">
            <a:extLst>
              <a:ext uri="{FF2B5EF4-FFF2-40B4-BE49-F238E27FC236}">
                <a16:creationId xmlns:a16="http://schemas.microsoft.com/office/drawing/2014/main" id="{28194BD7-66AB-F997-0CFC-C93134D3EA7A}"/>
              </a:ext>
            </a:extLst>
          </p:cNvPr>
          <p:cNvSpPr>
            <a:spLocks noGrp="1"/>
          </p:cNvSpPr>
          <p:nvPr>
            <p:ph type="title"/>
          </p:nvPr>
        </p:nvSpPr>
        <p:spPr/>
        <p:txBody>
          <a:bodyPr/>
          <a:lstStyle/>
          <a:p>
            <a:r>
              <a:rPr lang="en-US"/>
              <a:t>Milestone #2 Goals &amp; Objectives</a:t>
            </a:r>
          </a:p>
        </p:txBody>
      </p:sp>
      <p:sp>
        <p:nvSpPr>
          <p:cNvPr id="8" name="Text Placeholder 7">
            <a:extLst>
              <a:ext uri="{FF2B5EF4-FFF2-40B4-BE49-F238E27FC236}">
                <a16:creationId xmlns:a16="http://schemas.microsoft.com/office/drawing/2014/main" id="{A989191A-71A8-F401-90FF-1DC1B7F918CD}"/>
              </a:ext>
            </a:extLst>
          </p:cNvPr>
          <p:cNvSpPr>
            <a:spLocks noGrp="1"/>
          </p:cNvSpPr>
          <p:nvPr>
            <p:ph type="body" idx="1"/>
          </p:nvPr>
        </p:nvSpPr>
        <p:spPr>
          <a:xfrm>
            <a:off x="640079" y="2081314"/>
            <a:ext cx="5212080" cy="695373"/>
          </a:xfrm>
        </p:spPr>
        <p:txBody>
          <a:bodyPr/>
          <a:lstStyle/>
          <a:p>
            <a:r>
              <a:rPr lang="en-US"/>
              <a:t>Software</a:t>
            </a:r>
          </a:p>
        </p:txBody>
      </p:sp>
      <p:sp>
        <p:nvSpPr>
          <p:cNvPr id="4" name="Content Placeholder 3">
            <a:extLst>
              <a:ext uri="{FF2B5EF4-FFF2-40B4-BE49-F238E27FC236}">
                <a16:creationId xmlns:a16="http://schemas.microsoft.com/office/drawing/2014/main" id="{0CF57437-0BDC-1822-2142-18A96D17AE46}"/>
              </a:ext>
            </a:extLst>
          </p:cNvPr>
          <p:cNvSpPr>
            <a:spLocks noGrp="1"/>
          </p:cNvSpPr>
          <p:nvPr>
            <p:ph sz="half" idx="2"/>
          </p:nvPr>
        </p:nvSpPr>
        <p:spPr>
          <a:xfrm>
            <a:off x="640079" y="2776687"/>
            <a:ext cx="5212080" cy="3191256"/>
          </a:xfrm>
        </p:spPr>
        <p:txBody>
          <a:bodyPr vert="horz" lIns="91440" tIns="45720" rIns="91440" bIns="45720" rtlCol="0" anchor="t">
            <a:normAutofit fontScale="85000" lnSpcReduction="20000"/>
          </a:bodyPr>
          <a:lstStyle/>
          <a:p>
            <a:r>
              <a:rPr lang="en-US" b="1"/>
              <a:t>Gesture Model Recognizes at Least 4 Gestures</a:t>
            </a:r>
          </a:p>
          <a:p>
            <a:pPr marL="493395" lvl="1">
              <a:buFont typeface="Courier New" panose="020B0604020202020204" pitchFamily="34" charset="0"/>
              <a:buChar char="o"/>
            </a:pPr>
            <a:r>
              <a:rPr lang="en-US"/>
              <a:t>Build CNN model to recognize each gesture</a:t>
            </a:r>
          </a:p>
          <a:p>
            <a:pPr marL="493395" lvl="1">
              <a:buFont typeface="Courier New" panose="020B0604020202020204" pitchFamily="34" charset="0"/>
              <a:buChar char="o"/>
            </a:pPr>
            <a:r>
              <a:rPr lang="en-US"/>
              <a:t>Identify which gestures are easy to recognize and which cause problems</a:t>
            </a:r>
          </a:p>
          <a:p>
            <a:pPr marL="493395" lvl="1">
              <a:buFont typeface="Courier New" panose="020B0604020202020204" pitchFamily="34" charset="0"/>
              <a:buChar char="o"/>
            </a:pPr>
            <a:r>
              <a:rPr lang="en-US"/>
              <a:t>Achieve at least 90% accuracy on at least 4 gestures</a:t>
            </a:r>
          </a:p>
          <a:p>
            <a:r>
              <a:rPr lang="en-US" b="1"/>
              <a:t>Refine Model Training Set</a:t>
            </a:r>
          </a:p>
          <a:p>
            <a:pPr marL="493395" lvl="1">
              <a:buFont typeface="Courier New" panose="020B0604020202020204" pitchFamily="34" charset="0"/>
              <a:buChar char="o"/>
            </a:pPr>
            <a:r>
              <a:rPr lang="en-US"/>
              <a:t>Gather EMG data from  at least 18 more people</a:t>
            </a:r>
          </a:p>
          <a:p>
            <a:pPr marL="493395" lvl="1">
              <a:buFont typeface="Courier New" panose="020B0604020202020204" pitchFamily="34" charset="0"/>
              <a:buChar char="o"/>
            </a:pPr>
            <a:r>
              <a:rPr lang="en-US"/>
              <a:t>Determine final 8 gestures</a:t>
            </a:r>
          </a:p>
          <a:p>
            <a:pPr marL="493395" lvl="1">
              <a:buFont typeface="Courier New" panose="020B0604020202020204" pitchFamily="34" charset="0"/>
              <a:buChar char="o"/>
            </a:pPr>
            <a:r>
              <a:rPr lang="en-US"/>
              <a:t>Begin gathering training data with PCB</a:t>
            </a:r>
          </a:p>
          <a:p>
            <a:pPr marL="493395" lvl="1">
              <a:buFont typeface="Courier New" panose="020B0604020202020204" pitchFamily="34" charset="0"/>
              <a:buChar char="o"/>
            </a:pPr>
            <a:endParaRPr lang="en-US"/>
          </a:p>
          <a:p>
            <a:endParaRPr lang="en-US" b="1"/>
          </a:p>
        </p:txBody>
      </p:sp>
      <p:sp>
        <p:nvSpPr>
          <p:cNvPr id="9" name="Text Placeholder 8">
            <a:extLst>
              <a:ext uri="{FF2B5EF4-FFF2-40B4-BE49-F238E27FC236}">
                <a16:creationId xmlns:a16="http://schemas.microsoft.com/office/drawing/2014/main" id="{4216330A-0A6F-AFF5-0673-E978D6DDACED}"/>
              </a:ext>
            </a:extLst>
          </p:cNvPr>
          <p:cNvSpPr>
            <a:spLocks noGrp="1"/>
          </p:cNvSpPr>
          <p:nvPr>
            <p:ph type="body" sz="quarter" idx="3"/>
          </p:nvPr>
        </p:nvSpPr>
        <p:spPr>
          <a:xfrm>
            <a:off x="6318928" y="2081314"/>
            <a:ext cx="5212080" cy="695373"/>
          </a:xfrm>
        </p:spPr>
        <p:txBody>
          <a:bodyPr/>
          <a:lstStyle/>
          <a:p>
            <a:r>
              <a:rPr lang="en-US"/>
              <a:t>Hardware</a:t>
            </a:r>
          </a:p>
        </p:txBody>
      </p:sp>
      <p:sp>
        <p:nvSpPr>
          <p:cNvPr id="7" name="Content Placeholder 6">
            <a:extLst>
              <a:ext uri="{FF2B5EF4-FFF2-40B4-BE49-F238E27FC236}">
                <a16:creationId xmlns:a16="http://schemas.microsoft.com/office/drawing/2014/main" id="{32A8DBBF-B552-7E55-8728-5AFCC42CD9F9}"/>
              </a:ext>
            </a:extLst>
          </p:cNvPr>
          <p:cNvSpPr>
            <a:spLocks noGrp="1"/>
          </p:cNvSpPr>
          <p:nvPr>
            <p:ph sz="quarter" idx="4"/>
          </p:nvPr>
        </p:nvSpPr>
        <p:spPr>
          <a:xfrm>
            <a:off x="6318928" y="2776687"/>
            <a:ext cx="5212080" cy="3191256"/>
          </a:xfrm>
        </p:spPr>
        <p:txBody>
          <a:bodyPr vert="horz" lIns="91440" tIns="45720" rIns="91440" bIns="45720" rtlCol="0" anchor="t">
            <a:normAutofit fontScale="85000" lnSpcReduction="20000"/>
          </a:bodyPr>
          <a:lstStyle/>
          <a:p>
            <a:r>
              <a:rPr lang="en-US" sz="1900" b="1"/>
              <a:t>Combine Hardware Components</a:t>
            </a:r>
          </a:p>
          <a:p>
            <a:pPr marL="493395" lvl="1">
              <a:buFont typeface="Courier New" panose="020B0604020202020204" pitchFamily="34" charset="0"/>
              <a:buChar char="o"/>
            </a:pPr>
            <a:r>
              <a:rPr lang="en-US" sz="1700"/>
              <a:t>PCB/ Components Arrive</a:t>
            </a:r>
          </a:p>
          <a:p>
            <a:pPr marL="493395" lvl="1">
              <a:buFont typeface="Courier New" panose="020B0604020202020204" pitchFamily="34" charset="0"/>
              <a:buChar char="o"/>
            </a:pPr>
            <a:r>
              <a:rPr lang="en-US" sz="1700"/>
              <a:t>PCB is built and functional</a:t>
            </a:r>
          </a:p>
          <a:p>
            <a:pPr marL="493395" lvl="1">
              <a:buFont typeface="Courier New" panose="020B0604020202020204" pitchFamily="34" charset="0"/>
              <a:buChar char="o"/>
            </a:pPr>
            <a:r>
              <a:rPr lang="en-US" sz="1700"/>
              <a:t>Print 3D casing for PCB</a:t>
            </a:r>
          </a:p>
          <a:p>
            <a:pPr marL="493395" lvl="1">
              <a:buFont typeface="Courier New" panose="020B0604020202020204" pitchFamily="34" charset="0"/>
              <a:buChar char="o"/>
            </a:pPr>
            <a:r>
              <a:rPr lang="en-US" sz="1700"/>
              <a:t>Combine PCB with 3D casing</a:t>
            </a:r>
          </a:p>
          <a:p>
            <a:r>
              <a:rPr lang="en-US" sz="1900" b="1" err="1"/>
              <a:t>Wor</a:t>
            </a:r>
            <a:r>
              <a:rPr lang="en-US" sz="1900" b="1"/>
              <a:t>d Prediction Model Recognizes Gestures as Letters</a:t>
            </a:r>
          </a:p>
          <a:p>
            <a:pPr marL="493395" lvl="1">
              <a:buFont typeface="Courier New" panose="020B0604020202020204" pitchFamily="34" charset="0"/>
              <a:buChar char="o"/>
            </a:pPr>
            <a:r>
              <a:rPr lang="en-US" sz="1700"/>
              <a:t>Determine how gesture model will output predictions</a:t>
            </a:r>
          </a:p>
          <a:p>
            <a:pPr marL="493395" lvl="1">
              <a:buFont typeface="Courier New" panose="020B0604020202020204" pitchFamily="34" charset="0"/>
              <a:buChar char="o"/>
            </a:pPr>
            <a:r>
              <a:rPr lang="en-US" sz="1700"/>
              <a:t>Determine how gestures will be input into </a:t>
            </a:r>
            <a:r>
              <a:rPr lang="en-US" sz="1700" err="1"/>
              <a:t>FlexType</a:t>
            </a:r>
            <a:r>
              <a:rPr lang="en-US" sz="1700"/>
              <a:t> Model</a:t>
            </a:r>
            <a:endParaRPr lang="en-US"/>
          </a:p>
          <a:p>
            <a:pPr marL="493395" lvl="1">
              <a:buFont typeface="Courier New" panose="020B0604020202020204" pitchFamily="34" charset="0"/>
              <a:buChar char="o"/>
            </a:pPr>
            <a:r>
              <a:rPr lang="en-US" sz="1700"/>
              <a:t>Determine which gestures correspond to each letter group/ command</a:t>
            </a:r>
          </a:p>
          <a:p>
            <a:pPr marL="493395" lvl="1">
              <a:buFont typeface="Courier New" panose="020B0604020202020204" pitchFamily="34" charset="0"/>
              <a:buChar char="o"/>
            </a:pPr>
            <a:endParaRPr lang="en-US" sz="1700"/>
          </a:p>
        </p:txBody>
      </p:sp>
    </p:spTree>
    <p:extLst>
      <p:ext uri="{BB962C8B-B14F-4D97-AF65-F5344CB8AC3E}">
        <p14:creationId xmlns:p14="http://schemas.microsoft.com/office/powerpoint/2010/main" val="1536021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Database Icons - Free SVG &amp; PNG Database Images - Noun Project">
            <a:extLst>
              <a:ext uri="{FF2B5EF4-FFF2-40B4-BE49-F238E27FC236}">
                <a16:creationId xmlns:a16="http://schemas.microsoft.com/office/drawing/2014/main" id="{C4B0AF98-48BD-5F18-7334-CF4C3354930B}"/>
              </a:ext>
            </a:extLst>
          </p:cNvPr>
          <p:cNvPicPr>
            <a:picLocks noChangeAspect="1"/>
          </p:cNvPicPr>
          <p:nvPr/>
        </p:nvPicPr>
        <p:blipFill>
          <a:blip r:embed="rId2">
            <a:alphaModFix amt="31000"/>
          </a:blip>
          <a:stretch>
            <a:fillRect/>
          </a:stretch>
        </p:blipFill>
        <p:spPr>
          <a:xfrm>
            <a:off x="3286849" y="960098"/>
            <a:ext cx="5614418" cy="5614418"/>
          </a:xfrm>
          <a:prstGeom prst="rect">
            <a:avLst/>
          </a:prstGeom>
        </p:spPr>
      </p:pic>
      <p:sp>
        <p:nvSpPr>
          <p:cNvPr id="2" name="Title 1">
            <a:extLst>
              <a:ext uri="{FF2B5EF4-FFF2-40B4-BE49-F238E27FC236}">
                <a16:creationId xmlns:a16="http://schemas.microsoft.com/office/drawing/2014/main" id="{E9EB0461-80C3-0F0D-B197-2DBA4E360150}"/>
              </a:ext>
            </a:extLst>
          </p:cNvPr>
          <p:cNvSpPr>
            <a:spLocks noGrp="1"/>
          </p:cNvSpPr>
          <p:nvPr>
            <p:ph type="title"/>
          </p:nvPr>
        </p:nvSpPr>
        <p:spPr/>
        <p:txBody>
          <a:bodyPr/>
          <a:lstStyle/>
          <a:p>
            <a:r>
              <a:rPr lang="en-US"/>
              <a:t>Our Database</a:t>
            </a:r>
          </a:p>
        </p:txBody>
      </p:sp>
      <p:sp>
        <p:nvSpPr>
          <p:cNvPr id="3" name="Text Placeholder 2">
            <a:extLst>
              <a:ext uri="{FF2B5EF4-FFF2-40B4-BE49-F238E27FC236}">
                <a16:creationId xmlns:a16="http://schemas.microsoft.com/office/drawing/2014/main" id="{A7A2DE5D-3189-B71F-5285-43975828E81D}"/>
              </a:ext>
            </a:extLst>
          </p:cNvPr>
          <p:cNvSpPr>
            <a:spLocks noGrp="1"/>
          </p:cNvSpPr>
          <p:nvPr>
            <p:ph type="body" idx="1"/>
          </p:nvPr>
        </p:nvSpPr>
        <p:spPr/>
        <p:txBody>
          <a:bodyPr/>
          <a:lstStyle/>
          <a:p>
            <a:r>
              <a:rPr lang="en-US"/>
              <a:t>Current Database</a:t>
            </a:r>
          </a:p>
        </p:txBody>
      </p:sp>
      <p:sp>
        <p:nvSpPr>
          <p:cNvPr id="4" name="Content Placeholder 3">
            <a:extLst>
              <a:ext uri="{FF2B5EF4-FFF2-40B4-BE49-F238E27FC236}">
                <a16:creationId xmlns:a16="http://schemas.microsoft.com/office/drawing/2014/main" id="{3E8784E9-57B2-C157-2F3B-E91087209A60}"/>
              </a:ext>
            </a:extLst>
          </p:cNvPr>
          <p:cNvSpPr>
            <a:spLocks noGrp="1"/>
          </p:cNvSpPr>
          <p:nvPr>
            <p:ph sz="half" idx="2"/>
          </p:nvPr>
        </p:nvSpPr>
        <p:spPr/>
        <p:txBody>
          <a:bodyPr vert="horz" lIns="91440" tIns="45720" rIns="91440" bIns="45720" rtlCol="0" anchor="t">
            <a:normAutofit/>
          </a:bodyPr>
          <a:lstStyle/>
          <a:p>
            <a:r>
              <a:rPr lang="en-US"/>
              <a:t>Data from 9 people with old method </a:t>
            </a:r>
          </a:p>
          <a:p>
            <a:r>
              <a:rPr lang="en-US"/>
              <a:t>Data from 9 people with new method</a:t>
            </a:r>
          </a:p>
          <a:p>
            <a:r>
              <a:rPr lang="en-US"/>
              <a:t>Current model currently uses data from the new method</a:t>
            </a:r>
          </a:p>
          <a:p>
            <a:pPr marL="493395" lvl="1">
              <a:buFont typeface="Courier New" panose="020B0604020202020204" pitchFamily="34" charset="0"/>
              <a:buChar char="o"/>
            </a:pPr>
            <a:r>
              <a:rPr lang="en-US"/>
              <a:t>12 gestures record 10x each</a:t>
            </a:r>
          </a:p>
          <a:p>
            <a:pPr marL="493395" lvl="1">
              <a:buFont typeface="Courier New" panose="020B0604020202020204" pitchFamily="34" charset="0"/>
              <a:buChar char="o"/>
            </a:pPr>
            <a:r>
              <a:rPr lang="en-US"/>
              <a:t>Each gesture recording is 7 seconds</a:t>
            </a:r>
          </a:p>
          <a:p>
            <a:pPr marL="493395" lvl="1">
              <a:buFont typeface="Courier New" panose="020B0604020202020204" pitchFamily="34" charset="0"/>
              <a:buChar char="o"/>
            </a:pPr>
            <a:r>
              <a:rPr lang="en-US"/>
              <a:t>2 minutes of rest data</a:t>
            </a:r>
          </a:p>
        </p:txBody>
      </p:sp>
      <p:sp>
        <p:nvSpPr>
          <p:cNvPr id="5" name="Text Placeholder 4">
            <a:extLst>
              <a:ext uri="{FF2B5EF4-FFF2-40B4-BE49-F238E27FC236}">
                <a16:creationId xmlns:a16="http://schemas.microsoft.com/office/drawing/2014/main" id="{DB7F06D1-202B-40C3-0059-6E0933CA8384}"/>
              </a:ext>
            </a:extLst>
          </p:cNvPr>
          <p:cNvSpPr>
            <a:spLocks noGrp="1"/>
          </p:cNvSpPr>
          <p:nvPr>
            <p:ph type="body" sz="quarter" idx="3"/>
          </p:nvPr>
        </p:nvSpPr>
        <p:spPr/>
        <p:txBody>
          <a:bodyPr/>
          <a:lstStyle/>
          <a:p>
            <a:r>
              <a:rPr lang="en-US"/>
              <a:t>Next Steps</a:t>
            </a:r>
          </a:p>
          <a:p>
            <a:endParaRPr lang="en-US"/>
          </a:p>
        </p:txBody>
      </p:sp>
      <p:sp>
        <p:nvSpPr>
          <p:cNvPr id="6" name="Content Placeholder 5">
            <a:extLst>
              <a:ext uri="{FF2B5EF4-FFF2-40B4-BE49-F238E27FC236}">
                <a16:creationId xmlns:a16="http://schemas.microsoft.com/office/drawing/2014/main" id="{A701AFF5-1311-06BA-342F-1E4277A26355}"/>
              </a:ext>
            </a:extLst>
          </p:cNvPr>
          <p:cNvSpPr>
            <a:spLocks noGrp="1"/>
          </p:cNvSpPr>
          <p:nvPr>
            <p:ph sz="quarter" idx="4"/>
          </p:nvPr>
        </p:nvSpPr>
        <p:spPr/>
        <p:txBody>
          <a:bodyPr vert="horz" lIns="91440" tIns="45720" rIns="91440" bIns="45720" rtlCol="0" anchor="t">
            <a:normAutofit/>
          </a:bodyPr>
          <a:lstStyle/>
          <a:p>
            <a:endParaRPr lang="en-US"/>
          </a:p>
          <a:p>
            <a:endParaRPr lang="en-US"/>
          </a:p>
        </p:txBody>
      </p:sp>
      <p:sp>
        <p:nvSpPr>
          <p:cNvPr id="11" name="Content Placeholder 3">
            <a:extLst>
              <a:ext uri="{FF2B5EF4-FFF2-40B4-BE49-F238E27FC236}">
                <a16:creationId xmlns:a16="http://schemas.microsoft.com/office/drawing/2014/main" id="{9AB2957D-AFC3-08FA-6E84-B5F8AF24E57B}"/>
              </a:ext>
            </a:extLst>
          </p:cNvPr>
          <p:cNvSpPr txBox="1">
            <a:spLocks/>
          </p:cNvSpPr>
          <p:nvPr/>
        </p:nvSpPr>
        <p:spPr>
          <a:xfrm>
            <a:off x="6087065" y="2659884"/>
            <a:ext cx="5212080" cy="3191256"/>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a:t>Taking data can now be lower priority</a:t>
            </a:r>
          </a:p>
          <a:p>
            <a:r>
              <a:rPr lang="en-US"/>
              <a:t>Can lower the number of desired volunteers/ samples from 45 (end goal) to ~15</a:t>
            </a:r>
          </a:p>
          <a:p>
            <a:r>
              <a:rPr lang="en-US"/>
              <a:t>Now focusing on live data gathering and interpretation with PCB</a:t>
            </a:r>
          </a:p>
        </p:txBody>
      </p:sp>
    </p:spTree>
    <p:extLst>
      <p:ext uri="{BB962C8B-B14F-4D97-AF65-F5344CB8AC3E}">
        <p14:creationId xmlns:p14="http://schemas.microsoft.com/office/powerpoint/2010/main" val="3763698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081CAF-3031-063D-6D93-066C23C74AAB}"/>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ECE84C-CC79-2FF1-E7D9-3E766D257A20}"/>
              </a:ext>
            </a:extLst>
          </p:cNvPr>
          <p:cNvSpPr>
            <a:spLocks noGrp="1"/>
          </p:cNvSpPr>
          <p:nvPr>
            <p:ph type="title"/>
          </p:nvPr>
        </p:nvSpPr>
        <p:spPr>
          <a:xfrm>
            <a:off x="5458968" y="911927"/>
            <a:ext cx="6072041" cy="1097280"/>
          </a:xfrm>
        </p:spPr>
        <p:txBody>
          <a:bodyPr vert="horz" lIns="91440" tIns="45720" rIns="91440" bIns="45720" rtlCol="0" anchor="b">
            <a:normAutofit/>
          </a:bodyPr>
          <a:lstStyle/>
          <a:p>
            <a:r>
              <a:rPr lang="en-US" sz="3700"/>
              <a:t>Current Model Performance</a:t>
            </a:r>
          </a:p>
        </p:txBody>
      </p:sp>
      <p:cxnSp>
        <p:nvCxnSpPr>
          <p:cNvPr id="18" name="Straight Connector 17">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2782"/>
            <a:ext cx="4599433" cy="3"/>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23CDF0E-BB41-A7F3-B572-8AF4C01D15AF}"/>
              </a:ext>
            </a:extLst>
          </p:cNvPr>
          <p:cNvSpPr txBox="1"/>
          <p:nvPr/>
        </p:nvSpPr>
        <p:spPr>
          <a:xfrm>
            <a:off x="5458968" y="2173563"/>
            <a:ext cx="6072041" cy="4121881"/>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fontScale="92500" lnSpcReduction="20000"/>
          </a:bodyPr>
          <a:lstStyle/>
          <a:p>
            <a:pPr>
              <a:lnSpc>
                <a:spcPct val="120000"/>
              </a:lnSpc>
              <a:spcAft>
                <a:spcPts val="600"/>
              </a:spcAft>
              <a:buSzPct val="87000"/>
            </a:pPr>
            <a:r>
              <a:rPr lang="en-US" b="1"/>
              <a:t>Overall Performance</a:t>
            </a:r>
            <a:endParaRPr lang="en-US"/>
          </a:p>
          <a:p>
            <a:pPr marL="285750" indent="-285750">
              <a:lnSpc>
                <a:spcPct val="120000"/>
              </a:lnSpc>
              <a:spcAft>
                <a:spcPts val="600"/>
              </a:spcAft>
              <a:buSzPct val="87000"/>
              <a:buFont typeface="Arial" panose="020B0604020202020204" pitchFamily="34" charset="0"/>
              <a:buChar char="•"/>
            </a:pPr>
            <a:r>
              <a:rPr lang="en-US"/>
              <a:t>Model with 12 gestures:</a:t>
            </a:r>
          </a:p>
          <a:p>
            <a:pPr marL="742950" lvl="1" indent="-285750">
              <a:lnSpc>
                <a:spcPct val="120000"/>
              </a:lnSpc>
              <a:spcAft>
                <a:spcPts val="600"/>
              </a:spcAft>
              <a:buSzPct val="87000"/>
              <a:buFont typeface="Courier New" panose="020B0604020202020204" pitchFamily="34" charset="0"/>
              <a:buChar char="o"/>
            </a:pPr>
            <a:r>
              <a:rPr lang="en-US"/>
              <a:t>Validation Accuracy: 87%</a:t>
            </a:r>
          </a:p>
          <a:p>
            <a:pPr marL="742950" lvl="1" indent="-285750">
              <a:lnSpc>
                <a:spcPct val="120000"/>
              </a:lnSpc>
              <a:spcAft>
                <a:spcPts val="600"/>
              </a:spcAft>
              <a:buSzPct val="87000"/>
              <a:buFont typeface="Courier New" panose="020B0604020202020204" pitchFamily="34" charset="0"/>
              <a:buChar char="o"/>
            </a:pPr>
            <a:r>
              <a:rPr lang="en-US"/>
              <a:t>Training Accuracy: 90%</a:t>
            </a:r>
          </a:p>
          <a:p>
            <a:pPr marL="285750" indent="-285750">
              <a:lnSpc>
                <a:spcPct val="120000"/>
              </a:lnSpc>
              <a:spcAft>
                <a:spcPts val="600"/>
              </a:spcAft>
              <a:buSzPct val="87000"/>
              <a:buFont typeface="Arial" panose="020B0604020202020204" pitchFamily="34" charset="0"/>
              <a:buChar char="•"/>
            </a:pPr>
            <a:r>
              <a:rPr lang="en-US"/>
              <a:t>Model with 8 gestures:</a:t>
            </a:r>
          </a:p>
          <a:p>
            <a:pPr marL="742950" lvl="1" indent="-285750">
              <a:lnSpc>
                <a:spcPct val="120000"/>
              </a:lnSpc>
              <a:spcAft>
                <a:spcPts val="600"/>
              </a:spcAft>
              <a:buSzPct val="87000"/>
              <a:buFont typeface="Courier New" panose="020B0604020202020204" pitchFamily="34" charset="0"/>
              <a:buChar char="o"/>
            </a:pPr>
            <a:r>
              <a:rPr lang="en-US"/>
              <a:t>Removed Gestures 2, 9, 10, 12</a:t>
            </a:r>
          </a:p>
          <a:p>
            <a:pPr marL="742950" lvl="1" indent="-285750">
              <a:lnSpc>
                <a:spcPct val="120000"/>
              </a:lnSpc>
              <a:spcAft>
                <a:spcPts val="600"/>
              </a:spcAft>
              <a:buSzPct val="87000"/>
              <a:buFont typeface="Courier New" panose="020B0604020202020204" pitchFamily="34" charset="0"/>
              <a:buChar char="o"/>
            </a:pPr>
            <a:r>
              <a:rPr lang="en-US"/>
              <a:t>Improved Validation Accuracy to 94%</a:t>
            </a:r>
          </a:p>
          <a:p>
            <a:pPr marL="742950" lvl="1" indent="-285750">
              <a:lnSpc>
                <a:spcPct val="120000"/>
              </a:lnSpc>
              <a:spcAft>
                <a:spcPts val="600"/>
              </a:spcAft>
              <a:buSzPct val="87000"/>
              <a:buFont typeface="Courier New" panose="020B0604020202020204" pitchFamily="34" charset="0"/>
              <a:buChar char="o"/>
            </a:pPr>
            <a:r>
              <a:rPr lang="en-US"/>
              <a:t>Training Accuracy: 99%</a:t>
            </a:r>
          </a:p>
          <a:p>
            <a:pPr marL="285750" indent="-285750">
              <a:lnSpc>
                <a:spcPct val="120000"/>
              </a:lnSpc>
              <a:spcAft>
                <a:spcPts val="600"/>
              </a:spcAft>
              <a:buSzPct val="87000"/>
              <a:buFont typeface="Arial" panose="020B0604020202020204" pitchFamily="34" charset="0"/>
              <a:buChar char="•"/>
            </a:pPr>
            <a:endParaRPr lang="en-US"/>
          </a:p>
          <a:p>
            <a:pPr lvl="1">
              <a:lnSpc>
                <a:spcPct val="120000"/>
              </a:lnSpc>
              <a:spcAft>
                <a:spcPts val="600"/>
              </a:spcAft>
              <a:buSzPct val="87000"/>
            </a:pPr>
            <a:r>
              <a:rPr lang="en-US"/>
              <a:t>Current Code: </a:t>
            </a:r>
            <a:r>
              <a:rPr lang="en-US">
                <a:hlinkClick r:id="rId2"/>
              </a:rPr>
              <a:t>https://github.com/JuliaCJ/FlexType-EMG-Keyboard/blob/main/Gesture_Recognition_CNN_New.ipynb</a:t>
            </a:r>
          </a:p>
          <a:p>
            <a:pPr marL="742950" lvl="1" indent="-285750">
              <a:lnSpc>
                <a:spcPct val="120000"/>
              </a:lnSpc>
              <a:spcAft>
                <a:spcPts val="600"/>
              </a:spcAft>
              <a:buSzPct val="87000"/>
              <a:buFont typeface="Courier New" panose="020B0604020202020204" pitchFamily="34" charset="0"/>
              <a:buChar char="o"/>
            </a:pPr>
            <a:endParaRPr lang="en-US"/>
          </a:p>
          <a:p>
            <a:pPr marL="285750" indent="-285750">
              <a:lnSpc>
                <a:spcPct val="120000"/>
              </a:lnSpc>
              <a:spcAft>
                <a:spcPts val="600"/>
              </a:spcAft>
              <a:buSzPct val="87000"/>
              <a:buFont typeface="Arial" panose="020B0604020202020204" pitchFamily="34" charset="0"/>
              <a:buChar char="•"/>
            </a:pPr>
            <a:endParaRPr lang="en-US"/>
          </a:p>
          <a:p>
            <a:pPr marL="285750" indent="-285750">
              <a:lnSpc>
                <a:spcPct val="120000"/>
              </a:lnSpc>
              <a:spcAft>
                <a:spcPts val="600"/>
              </a:spcAft>
              <a:buSzPct val="87000"/>
              <a:buFont typeface="Arial" panose="020B0604020202020204" pitchFamily="34" charset="0"/>
              <a:buChar char="•"/>
            </a:pPr>
            <a:endParaRPr lang="en-US"/>
          </a:p>
          <a:p>
            <a:pPr marL="285750" indent="-285750">
              <a:lnSpc>
                <a:spcPct val="120000"/>
              </a:lnSpc>
              <a:spcAft>
                <a:spcPts val="600"/>
              </a:spcAft>
              <a:buSzPct val="87000"/>
              <a:buFont typeface="Arial" panose="020B0604020202020204" pitchFamily="34" charset="0"/>
              <a:buChar char="•"/>
            </a:pPr>
            <a:endParaRPr lang="en-US"/>
          </a:p>
        </p:txBody>
      </p:sp>
      <p:pic>
        <p:nvPicPr>
          <p:cNvPr id="4" name="Picture 3" descr="A graph of a graph&#10;&#10;AI-generated content may be incorrect.">
            <a:extLst>
              <a:ext uri="{FF2B5EF4-FFF2-40B4-BE49-F238E27FC236}">
                <a16:creationId xmlns:a16="http://schemas.microsoft.com/office/drawing/2014/main" id="{681D7641-1FC2-6418-EA3E-646B73CCA90C}"/>
              </a:ext>
            </a:extLst>
          </p:cNvPr>
          <p:cNvPicPr>
            <a:picLocks noChangeAspect="1"/>
          </p:cNvPicPr>
          <p:nvPr/>
        </p:nvPicPr>
        <p:blipFill>
          <a:blip r:embed="rId3"/>
          <a:stretch>
            <a:fillRect/>
          </a:stretch>
        </p:blipFill>
        <p:spPr>
          <a:xfrm>
            <a:off x="288873" y="606257"/>
            <a:ext cx="3250992" cy="2451673"/>
          </a:xfrm>
          <a:prstGeom prst="rect">
            <a:avLst/>
          </a:prstGeom>
        </p:spPr>
      </p:pic>
      <p:pic>
        <p:nvPicPr>
          <p:cNvPr id="3" name="Picture 2" descr="A graph of a graph&#10;&#10;AI-generated content may be incorrect.">
            <a:extLst>
              <a:ext uri="{FF2B5EF4-FFF2-40B4-BE49-F238E27FC236}">
                <a16:creationId xmlns:a16="http://schemas.microsoft.com/office/drawing/2014/main" id="{91B04B41-9E66-48EB-848B-F00B5F012D4D}"/>
              </a:ext>
            </a:extLst>
          </p:cNvPr>
          <p:cNvPicPr>
            <a:picLocks noChangeAspect="1"/>
          </p:cNvPicPr>
          <p:nvPr/>
        </p:nvPicPr>
        <p:blipFill>
          <a:blip r:embed="rId4"/>
          <a:stretch>
            <a:fillRect/>
          </a:stretch>
        </p:blipFill>
        <p:spPr>
          <a:xfrm>
            <a:off x="287482" y="3425970"/>
            <a:ext cx="3248891" cy="2707697"/>
          </a:xfrm>
          <a:prstGeom prst="rect">
            <a:avLst/>
          </a:prstGeom>
        </p:spPr>
      </p:pic>
      <p:sp>
        <p:nvSpPr>
          <p:cNvPr id="6" name="TextBox 5">
            <a:extLst>
              <a:ext uri="{FF2B5EF4-FFF2-40B4-BE49-F238E27FC236}">
                <a16:creationId xmlns:a16="http://schemas.microsoft.com/office/drawing/2014/main" id="{410095D9-7252-BAFA-20CD-6ECAFF269A75}"/>
              </a:ext>
            </a:extLst>
          </p:cNvPr>
          <p:cNvSpPr txBox="1"/>
          <p:nvPr/>
        </p:nvSpPr>
        <p:spPr>
          <a:xfrm>
            <a:off x="290944" y="332509"/>
            <a:ext cx="330430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Accuracy Graph for Model with 12 Gestures:</a:t>
            </a:r>
          </a:p>
        </p:txBody>
      </p:sp>
      <p:sp>
        <p:nvSpPr>
          <p:cNvPr id="8" name="TextBox 7">
            <a:extLst>
              <a:ext uri="{FF2B5EF4-FFF2-40B4-BE49-F238E27FC236}">
                <a16:creationId xmlns:a16="http://schemas.microsoft.com/office/drawing/2014/main" id="{312FEC3F-6F62-8955-E5E2-A761AD076318}"/>
              </a:ext>
            </a:extLst>
          </p:cNvPr>
          <p:cNvSpPr txBox="1"/>
          <p:nvPr/>
        </p:nvSpPr>
        <p:spPr>
          <a:xfrm>
            <a:off x="235525" y="3151908"/>
            <a:ext cx="330430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Accuracy Graph for Model with 8 Gestures:</a:t>
            </a:r>
          </a:p>
        </p:txBody>
      </p:sp>
    </p:spTree>
    <p:extLst>
      <p:ext uri="{BB962C8B-B14F-4D97-AF65-F5344CB8AC3E}">
        <p14:creationId xmlns:p14="http://schemas.microsoft.com/office/powerpoint/2010/main" val="3923099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67" name="Straight Connector 66">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68" name="Rectangle 67">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273201-1219-10A2-7A36-AB5A6563C238}"/>
              </a:ext>
            </a:extLst>
          </p:cNvPr>
          <p:cNvSpPr>
            <a:spLocks noGrp="1"/>
          </p:cNvSpPr>
          <p:nvPr>
            <p:ph type="title"/>
          </p:nvPr>
        </p:nvSpPr>
        <p:spPr>
          <a:xfrm>
            <a:off x="640080" y="1371600"/>
            <a:ext cx="5305424" cy="1097280"/>
          </a:xfrm>
        </p:spPr>
        <p:txBody>
          <a:bodyPr vert="horz" lIns="91440" tIns="45720" rIns="91440" bIns="45720" rtlCol="0" anchor="t">
            <a:normAutofit/>
          </a:bodyPr>
          <a:lstStyle/>
          <a:p>
            <a:pPr>
              <a:lnSpc>
                <a:spcPct val="90000"/>
              </a:lnSpc>
            </a:pPr>
            <a:r>
              <a:rPr lang="en-US" sz="3400"/>
              <a:t>Current Model Performance</a:t>
            </a:r>
          </a:p>
        </p:txBody>
      </p:sp>
      <p:cxnSp>
        <p:nvCxnSpPr>
          <p:cNvPr id="69" name="Straight Connector 68">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8B367C6-8356-E880-FACF-D22E932C89E8}"/>
              </a:ext>
            </a:extLst>
          </p:cNvPr>
          <p:cNvSpPr txBox="1"/>
          <p:nvPr/>
        </p:nvSpPr>
        <p:spPr>
          <a:xfrm>
            <a:off x="640080" y="2633238"/>
            <a:ext cx="5305425" cy="366468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a:lnSpc>
                <a:spcPct val="120000"/>
              </a:lnSpc>
              <a:spcAft>
                <a:spcPts val="600"/>
              </a:spcAft>
              <a:buSzPct val="87000"/>
              <a:buFont typeface="Arial" panose="020B0604020202020204" pitchFamily="34" charset="0"/>
              <a:buChar char="•"/>
            </a:pPr>
            <a:r>
              <a:rPr lang="en-US" b="1"/>
              <a:t>Individual Gesture Performance</a:t>
            </a:r>
            <a:endParaRPr lang="en-US"/>
          </a:p>
          <a:p>
            <a:pPr marL="285750" indent="-285750">
              <a:lnSpc>
                <a:spcPct val="120000"/>
              </a:lnSpc>
              <a:spcAft>
                <a:spcPts val="600"/>
              </a:spcAft>
              <a:buSzPct val="87000"/>
              <a:buFont typeface="Arial" panose="020B0604020202020204" pitchFamily="34" charset="0"/>
              <a:buChar char="•"/>
            </a:pPr>
            <a:r>
              <a:rPr lang="en-US"/>
              <a:t>12 Gesture Model</a:t>
            </a:r>
          </a:p>
          <a:p>
            <a:pPr marL="742950" lvl="1" indent="-285750">
              <a:lnSpc>
                <a:spcPct val="120000"/>
              </a:lnSpc>
              <a:spcAft>
                <a:spcPts val="600"/>
              </a:spcAft>
              <a:buSzPct val="87000"/>
              <a:buFont typeface="Arial" panose="020B0604020202020204" pitchFamily="34" charset="0"/>
              <a:buChar char="•"/>
            </a:pPr>
            <a:r>
              <a:rPr lang="en-US"/>
              <a:t>4 Gestures above 90%</a:t>
            </a:r>
          </a:p>
          <a:p>
            <a:pPr marL="742950" lvl="1" indent="-285750">
              <a:lnSpc>
                <a:spcPct val="120000"/>
              </a:lnSpc>
              <a:spcAft>
                <a:spcPts val="600"/>
              </a:spcAft>
              <a:buSzPct val="87000"/>
              <a:buFont typeface="Arial" panose="020B0604020202020204" pitchFamily="34" charset="0"/>
              <a:buChar char="•"/>
            </a:pPr>
            <a:r>
              <a:rPr lang="en-US"/>
              <a:t>Most Gestures had low 80% accuracy</a:t>
            </a:r>
          </a:p>
          <a:p>
            <a:pPr marL="285750" indent="-285750">
              <a:lnSpc>
                <a:spcPct val="120000"/>
              </a:lnSpc>
              <a:spcAft>
                <a:spcPts val="600"/>
              </a:spcAft>
              <a:buSzPct val="87000"/>
              <a:buFont typeface="Arial" panose="020B0604020202020204" pitchFamily="34" charset="0"/>
              <a:buChar char="•"/>
            </a:pPr>
            <a:r>
              <a:rPr lang="en-US"/>
              <a:t>8 Gesture Model</a:t>
            </a:r>
          </a:p>
          <a:p>
            <a:pPr marL="742950" lvl="1" indent="-285750">
              <a:lnSpc>
                <a:spcPct val="120000"/>
              </a:lnSpc>
              <a:spcAft>
                <a:spcPts val="600"/>
              </a:spcAft>
              <a:buSzPct val="87000"/>
              <a:buFont typeface="Arial" panose="020B0604020202020204" pitchFamily="34" charset="0"/>
              <a:buChar char="•"/>
            </a:pPr>
            <a:r>
              <a:rPr lang="en-US"/>
              <a:t>6 Gestures above 90%</a:t>
            </a:r>
          </a:p>
          <a:p>
            <a:pPr marL="742950" lvl="1" indent="-285750">
              <a:lnSpc>
                <a:spcPct val="120000"/>
              </a:lnSpc>
              <a:spcAft>
                <a:spcPts val="600"/>
              </a:spcAft>
              <a:buSzPct val="87000"/>
              <a:buFont typeface="Arial" panose="020B0604020202020204" pitchFamily="34" charset="0"/>
              <a:buChar char="•"/>
            </a:pPr>
            <a:r>
              <a:rPr lang="en-US"/>
              <a:t>Lowest accuracy is 88% for individual gesture</a:t>
            </a:r>
          </a:p>
          <a:p>
            <a:pPr marL="742950" lvl="1" indent="-285750">
              <a:lnSpc>
                <a:spcPct val="120000"/>
              </a:lnSpc>
              <a:spcAft>
                <a:spcPts val="600"/>
              </a:spcAft>
              <a:buSzPct val="87000"/>
              <a:buFont typeface="Arial" panose="020B0604020202020204" pitchFamily="34" charset="0"/>
              <a:buChar char="•"/>
            </a:pPr>
            <a:endParaRPr lang="en-US"/>
          </a:p>
          <a:p>
            <a:pPr marL="742950" lvl="1" indent="-285750">
              <a:lnSpc>
                <a:spcPct val="120000"/>
              </a:lnSpc>
              <a:spcAft>
                <a:spcPts val="600"/>
              </a:spcAft>
              <a:buSzPct val="87000"/>
              <a:buFont typeface="Arial" panose="020B0604020202020204" pitchFamily="34" charset="0"/>
              <a:buChar char="•"/>
            </a:pPr>
            <a:endParaRPr lang="en-US"/>
          </a:p>
          <a:p>
            <a:pPr marL="742950" lvl="1" indent="-285750">
              <a:lnSpc>
                <a:spcPct val="120000"/>
              </a:lnSpc>
              <a:spcAft>
                <a:spcPts val="600"/>
              </a:spcAft>
              <a:buSzPct val="87000"/>
              <a:buFont typeface="Arial" panose="020B0604020202020204" pitchFamily="34" charset="0"/>
              <a:buChar char="•"/>
            </a:pPr>
            <a:endParaRPr lang="en-US"/>
          </a:p>
          <a:p>
            <a:pPr marL="285750" indent="-285750">
              <a:lnSpc>
                <a:spcPct val="120000"/>
              </a:lnSpc>
              <a:spcAft>
                <a:spcPts val="600"/>
              </a:spcAft>
              <a:buSzPct val="87000"/>
              <a:buFont typeface="Arial" panose="020B0604020202020204" pitchFamily="34" charset="0"/>
              <a:buChar char="•"/>
            </a:pPr>
            <a:endParaRPr lang="en-US"/>
          </a:p>
        </p:txBody>
      </p:sp>
      <p:pic>
        <p:nvPicPr>
          <p:cNvPr id="7" name="Picture 6" descr="A screenshot of a computer screen&#10;&#10;AI-generated content may be incorrect.">
            <a:extLst>
              <a:ext uri="{FF2B5EF4-FFF2-40B4-BE49-F238E27FC236}">
                <a16:creationId xmlns:a16="http://schemas.microsoft.com/office/drawing/2014/main" id="{783AD33D-854F-651A-D75E-8B36CBC0D2FA}"/>
              </a:ext>
            </a:extLst>
          </p:cNvPr>
          <p:cNvPicPr>
            <a:picLocks noChangeAspect="1"/>
          </p:cNvPicPr>
          <p:nvPr/>
        </p:nvPicPr>
        <p:blipFill>
          <a:blip r:embed="rId2"/>
          <a:stretch>
            <a:fillRect/>
          </a:stretch>
        </p:blipFill>
        <p:spPr>
          <a:xfrm>
            <a:off x="5269677" y="906580"/>
            <a:ext cx="3170973" cy="2362842"/>
          </a:xfrm>
          <a:prstGeom prst="rect">
            <a:avLst/>
          </a:prstGeom>
        </p:spPr>
      </p:pic>
      <p:pic>
        <p:nvPicPr>
          <p:cNvPr id="5" name="Picture 4" descr="A screenshot of a computer screen&#10;&#10;AI-generated content may be incorrect.">
            <a:extLst>
              <a:ext uri="{FF2B5EF4-FFF2-40B4-BE49-F238E27FC236}">
                <a16:creationId xmlns:a16="http://schemas.microsoft.com/office/drawing/2014/main" id="{0ECA302A-9479-4B58-9F6D-D5F24EA09E36}"/>
              </a:ext>
            </a:extLst>
          </p:cNvPr>
          <p:cNvPicPr>
            <a:picLocks noChangeAspect="1"/>
          </p:cNvPicPr>
          <p:nvPr/>
        </p:nvPicPr>
        <p:blipFill>
          <a:blip r:embed="rId3"/>
          <a:srcRect l="10452" r="-342" b="-529"/>
          <a:stretch>
            <a:fillRect/>
          </a:stretch>
        </p:blipFill>
        <p:spPr>
          <a:xfrm>
            <a:off x="8531562" y="909648"/>
            <a:ext cx="3415565" cy="2039920"/>
          </a:xfrm>
          <a:prstGeom prst="rect">
            <a:avLst/>
          </a:prstGeom>
        </p:spPr>
      </p:pic>
      <p:pic>
        <p:nvPicPr>
          <p:cNvPr id="4" name="Picture 3" descr="A screenshot of a graph&#10;&#10;AI-generated content may be incorrect.">
            <a:extLst>
              <a:ext uri="{FF2B5EF4-FFF2-40B4-BE49-F238E27FC236}">
                <a16:creationId xmlns:a16="http://schemas.microsoft.com/office/drawing/2014/main" id="{5869B8AB-D014-0A40-346D-692971D40B34}"/>
              </a:ext>
            </a:extLst>
          </p:cNvPr>
          <p:cNvPicPr>
            <a:picLocks noChangeAspect="1"/>
          </p:cNvPicPr>
          <p:nvPr/>
        </p:nvPicPr>
        <p:blipFill>
          <a:blip r:embed="rId4"/>
          <a:stretch>
            <a:fillRect/>
          </a:stretch>
        </p:blipFill>
        <p:spPr>
          <a:xfrm>
            <a:off x="8689181" y="3426638"/>
            <a:ext cx="3260431" cy="2676357"/>
          </a:xfrm>
          <a:prstGeom prst="rect">
            <a:avLst/>
          </a:prstGeom>
        </p:spPr>
      </p:pic>
      <p:pic>
        <p:nvPicPr>
          <p:cNvPr id="9" name="Picture 8">
            <a:extLst>
              <a:ext uri="{FF2B5EF4-FFF2-40B4-BE49-F238E27FC236}">
                <a16:creationId xmlns:a16="http://schemas.microsoft.com/office/drawing/2014/main" id="{A90EB9D8-76C1-1C95-60C0-2E2F86DEDE23}"/>
              </a:ext>
            </a:extLst>
          </p:cNvPr>
          <p:cNvPicPr>
            <a:picLocks noChangeAspect="1"/>
          </p:cNvPicPr>
          <p:nvPr/>
        </p:nvPicPr>
        <p:blipFill>
          <a:blip r:embed="rId5"/>
          <a:stretch>
            <a:fillRect/>
          </a:stretch>
        </p:blipFill>
        <p:spPr>
          <a:xfrm>
            <a:off x="5286006" y="3539528"/>
            <a:ext cx="3246232" cy="2553794"/>
          </a:xfrm>
          <a:prstGeom prst="rect">
            <a:avLst/>
          </a:prstGeom>
        </p:spPr>
      </p:pic>
    </p:spTree>
    <p:extLst>
      <p:ext uri="{BB962C8B-B14F-4D97-AF65-F5344CB8AC3E}">
        <p14:creationId xmlns:p14="http://schemas.microsoft.com/office/powerpoint/2010/main" val="2938569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3276A5-C8DD-1188-BADF-6CC8796B183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D06017-34F1-DB46-0FE9-BCBBAE9872F5}"/>
              </a:ext>
            </a:extLst>
          </p:cNvPr>
          <p:cNvSpPr>
            <a:spLocks noGrp="1"/>
          </p:cNvSpPr>
          <p:nvPr>
            <p:ph type="title"/>
          </p:nvPr>
        </p:nvSpPr>
        <p:spPr>
          <a:xfrm>
            <a:off x="5496821" y="1371600"/>
            <a:ext cx="6034187" cy="1097280"/>
          </a:xfrm>
        </p:spPr>
        <p:txBody>
          <a:bodyPr>
            <a:normAutofit/>
          </a:bodyPr>
          <a:lstStyle/>
          <a:p>
            <a:r>
              <a:rPr lang="en-US"/>
              <a:t>Best Gestures</a:t>
            </a:r>
          </a:p>
        </p:txBody>
      </p:sp>
      <p:pic>
        <p:nvPicPr>
          <p:cNvPr id="5" name="Picture 4" descr="Star-shaped glitter">
            <a:extLst>
              <a:ext uri="{FF2B5EF4-FFF2-40B4-BE49-F238E27FC236}">
                <a16:creationId xmlns:a16="http://schemas.microsoft.com/office/drawing/2014/main" id="{CE0A32D6-4125-0EA2-BA00-A8DE07AE35CA}"/>
              </a:ext>
            </a:extLst>
          </p:cNvPr>
          <p:cNvPicPr>
            <a:picLocks noChangeAspect="1"/>
          </p:cNvPicPr>
          <p:nvPr/>
        </p:nvPicPr>
        <p:blipFill>
          <a:blip r:embed="rId2"/>
          <a:srcRect l="40295" r="12492" b="-3"/>
          <a:stretch>
            <a:fillRect/>
          </a:stretch>
        </p:blipFill>
        <p:spPr>
          <a:xfrm>
            <a:off x="20" y="10"/>
            <a:ext cx="4857871" cy="6857990"/>
          </a:xfrm>
          <a:prstGeom prst="rect">
            <a:avLst/>
          </a:prstGeom>
        </p:spPr>
      </p:pic>
      <p:cxnSp>
        <p:nvCxnSpPr>
          <p:cNvPr id="11" name="Straight Connector 10">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33234B7-E126-7D1C-08B5-701B643027C3}"/>
              </a:ext>
            </a:extLst>
          </p:cNvPr>
          <p:cNvSpPr>
            <a:spLocks noGrp="1"/>
          </p:cNvSpPr>
          <p:nvPr>
            <p:ph idx="1"/>
          </p:nvPr>
        </p:nvSpPr>
        <p:spPr>
          <a:xfrm>
            <a:off x="5496821" y="2633236"/>
            <a:ext cx="6034187" cy="3664687"/>
          </a:xfrm>
        </p:spPr>
        <p:txBody>
          <a:bodyPr vert="horz" lIns="91440" tIns="45720" rIns="91440" bIns="45720" rtlCol="0" anchor="t">
            <a:normAutofit/>
          </a:bodyPr>
          <a:lstStyle/>
          <a:p>
            <a:pPr>
              <a:lnSpc>
                <a:spcPct val="110000"/>
              </a:lnSpc>
            </a:pPr>
            <a:r>
              <a:rPr lang="en-US"/>
              <a:t>Two-Finger Wave - "Swipe"</a:t>
            </a:r>
          </a:p>
          <a:p>
            <a:pPr>
              <a:lnSpc>
                <a:spcPct val="110000"/>
              </a:lnSpc>
            </a:pPr>
            <a:r>
              <a:rPr lang="en-US"/>
              <a:t>Middle Pinch - [A-F]</a:t>
            </a:r>
          </a:p>
          <a:p>
            <a:pPr>
              <a:lnSpc>
                <a:spcPct val="110000"/>
              </a:lnSpc>
            </a:pPr>
            <a:r>
              <a:rPr lang="en-US"/>
              <a:t>Ring Pinch - [G-M]</a:t>
            </a:r>
          </a:p>
          <a:p>
            <a:pPr>
              <a:lnSpc>
                <a:spcPct val="110000"/>
              </a:lnSpc>
            </a:pPr>
            <a:r>
              <a:rPr lang="en-US"/>
              <a:t>Pinky Pinch - [N-T]</a:t>
            </a:r>
          </a:p>
          <a:p>
            <a:pPr>
              <a:lnSpc>
                <a:spcPct val="110000"/>
              </a:lnSpc>
            </a:pPr>
            <a:r>
              <a:rPr lang="en-US"/>
              <a:t>L-Sign - [U-Z]</a:t>
            </a:r>
          </a:p>
          <a:p>
            <a:pPr>
              <a:lnSpc>
                <a:spcPct val="110000"/>
              </a:lnSpc>
            </a:pPr>
            <a:r>
              <a:rPr lang="en-US"/>
              <a:t>Thumb-Out - "Delete"</a:t>
            </a:r>
          </a:p>
          <a:p>
            <a:pPr>
              <a:lnSpc>
                <a:spcPct val="110000"/>
              </a:lnSpc>
            </a:pPr>
            <a:r>
              <a:rPr lang="en-US"/>
              <a:t>Knock - "Space/ Enter"</a:t>
            </a:r>
          </a:p>
          <a:p>
            <a:pPr>
              <a:lnSpc>
                <a:spcPct val="110000"/>
              </a:lnSpc>
            </a:pPr>
            <a:r>
              <a:rPr lang="en-US"/>
              <a:t>Wiggle Fingers - "Start/ Stop"</a:t>
            </a:r>
          </a:p>
        </p:txBody>
      </p:sp>
    </p:spTree>
    <p:extLst>
      <p:ext uri="{BB962C8B-B14F-4D97-AF65-F5344CB8AC3E}">
        <p14:creationId xmlns:p14="http://schemas.microsoft.com/office/powerpoint/2010/main" val="2118185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AAEAB-C4A8-D050-A1A3-F6CCD1CEEC17}"/>
              </a:ext>
            </a:extLst>
          </p:cNvPr>
          <p:cNvSpPr>
            <a:spLocks noGrp="1"/>
          </p:cNvSpPr>
          <p:nvPr>
            <p:ph type="title"/>
          </p:nvPr>
        </p:nvSpPr>
        <p:spPr/>
        <p:txBody>
          <a:bodyPr/>
          <a:lstStyle/>
          <a:p>
            <a:r>
              <a:rPr lang="en-US"/>
              <a:t>Existing </a:t>
            </a:r>
            <a:r>
              <a:rPr lang="en-US" err="1"/>
              <a:t>FlexType</a:t>
            </a:r>
            <a:r>
              <a:rPr lang="en-US"/>
              <a:t> Model</a:t>
            </a:r>
          </a:p>
        </p:txBody>
      </p:sp>
      <p:sp>
        <p:nvSpPr>
          <p:cNvPr id="3" name="Content Placeholder 2">
            <a:extLst>
              <a:ext uri="{FF2B5EF4-FFF2-40B4-BE49-F238E27FC236}">
                <a16:creationId xmlns:a16="http://schemas.microsoft.com/office/drawing/2014/main" id="{07C7CC66-F414-CAE6-5C06-A3DD930D4F25}"/>
              </a:ext>
            </a:extLst>
          </p:cNvPr>
          <p:cNvSpPr>
            <a:spLocks noGrp="1"/>
          </p:cNvSpPr>
          <p:nvPr>
            <p:ph idx="1"/>
          </p:nvPr>
        </p:nvSpPr>
        <p:spPr/>
        <p:txBody>
          <a:bodyPr vert="horz" lIns="91440" tIns="45720" rIns="91440" bIns="45720" rtlCol="0" anchor="t">
            <a:noAutofit/>
          </a:bodyPr>
          <a:lstStyle/>
          <a:p>
            <a:r>
              <a:rPr lang="en-US"/>
              <a:t>The </a:t>
            </a:r>
            <a:r>
              <a:rPr lang="en-US" err="1"/>
              <a:t>FlexType</a:t>
            </a:r>
            <a:r>
              <a:rPr lang="en-US"/>
              <a:t> Model is a word prediction model created by Dr. Dylan Gaines</a:t>
            </a:r>
          </a:p>
          <a:p>
            <a:r>
              <a:rPr lang="en-US"/>
              <a:t>The model assigns letter groups to gestures, then uses a n-gram language model to predict what word is being typed</a:t>
            </a:r>
          </a:p>
          <a:p>
            <a:r>
              <a:rPr lang="en-US"/>
              <a:t>The current model was designed for a touch screen, and used 4 different gestures</a:t>
            </a:r>
          </a:p>
          <a:p>
            <a:r>
              <a:rPr lang="en-US"/>
              <a:t>We will alter how it takes an input to assign 8 different gestures to various letter groups and controls</a:t>
            </a:r>
          </a:p>
          <a:p>
            <a:r>
              <a:rPr lang="en-US"/>
              <a:t>Non-letter controls will be 'start/stop', 'space/ enter', 'delete', and 'swipe'</a:t>
            </a:r>
          </a:p>
        </p:txBody>
      </p:sp>
      <p:pic>
        <p:nvPicPr>
          <p:cNvPr id="4" name="Picture 3" descr="A group of cell phones with text&#10;&#10;AI-generated content may be incorrect.">
            <a:extLst>
              <a:ext uri="{FF2B5EF4-FFF2-40B4-BE49-F238E27FC236}">
                <a16:creationId xmlns:a16="http://schemas.microsoft.com/office/drawing/2014/main" id="{770C2F37-B645-838D-0761-35EDF8CF4603}"/>
              </a:ext>
            </a:extLst>
          </p:cNvPr>
          <p:cNvPicPr>
            <a:picLocks noChangeAspect="1"/>
          </p:cNvPicPr>
          <p:nvPr/>
        </p:nvPicPr>
        <p:blipFill>
          <a:blip r:embed="rId2"/>
          <a:srcRect t="-1872" r="1460" b="4316"/>
          <a:stretch>
            <a:fillRect/>
          </a:stretch>
        </p:blipFill>
        <p:spPr>
          <a:xfrm>
            <a:off x="6253747" y="0"/>
            <a:ext cx="5406310" cy="2350921"/>
          </a:xfrm>
          <a:prstGeom prst="rect">
            <a:avLst/>
          </a:prstGeom>
        </p:spPr>
      </p:pic>
    </p:spTree>
    <p:extLst>
      <p:ext uri="{BB962C8B-B14F-4D97-AF65-F5344CB8AC3E}">
        <p14:creationId xmlns:p14="http://schemas.microsoft.com/office/powerpoint/2010/main" val="2233528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904E5D-3453-E93E-5271-48B2DA1FB8CC}"/>
              </a:ext>
            </a:extLst>
          </p:cNvPr>
          <p:cNvSpPr>
            <a:spLocks noGrp="1"/>
          </p:cNvSpPr>
          <p:nvPr>
            <p:ph type="title"/>
          </p:nvPr>
        </p:nvSpPr>
        <p:spPr>
          <a:xfrm>
            <a:off x="5496821" y="1371600"/>
            <a:ext cx="6034187" cy="1097280"/>
          </a:xfrm>
        </p:spPr>
        <p:txBody>
          <a:bodyPr vert="horz" lIns="91440" tIns="45720" rIns="91440" bIns="45720" rtlCol="0" anchor="t">
            <a:normAutofit/>
          </a:bodyPr>
          <a:lstStyle/>
          <a:p>
            <a:r>
              <a:rPr lang="en-US"/>
              <a:t>PCB Design Milestone</a:t>
            </a:r>
          </a:p>
        </p:txBody>
      </p:sp>
      <p:pic>
        <p:nvPicPr>
          <p:cNvPr id="5" name="Picture 4" descr="Electronics protoboard">
            <a:extLst>
              <a:ext uri="{FF2B5EF4-FFF2-40B4-BE49-F238E27FC236}">
                <a16:creationId xmlns:a16="http://schemas.microsoft.com/office/drawing/2014/main" id="{98DFAB6B-CFB8-D40A-1463-1F03190D5205}"/>
              </a:ext>
            </a:extLst>
          </p:cNvPr>
          <p:cNvPicPr>
            <a:picLocks noChangeAspect="1"/>
          </p:cNvPicPr>
          <p:nvPr/>
        </p:nvPicPr>
        <p:blipFill>
          <a:blip r:embed="rId2"/>
          <a:srcRect l="9003" r="43714" b="-1"/>
          <a:stretch>
            <a:fillRect/>
          </a:stretch>
        </p:blipFill>
        <p:spPr>
          <a:xfrm>
            <a:off x="20" y="10"/>
            <a:ext cx="4857871" cy="6857990"/>
          </a:xfrm>
          <a:prstGeom prst="rect">
            <a:avLst/>
          </a:prstGeom>
        </p:spPr>
      </p:pic>
      <p:cxnSp>
        <p:nvCxnSpPr>
          <p:cNvPr id="22" name="Straight Connector 21">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25D44B3-B1AB-7C70-A178-192843B15C46}"/>
              </a:ext>
            </a:extLst>
          </p:cNvPr>
          <p:cNvSpPr txBox="1"/>
          <p:nvPr/>
        </p:nvSpPr>
        <p:spPr>
          <a:xfrm>
            <a:off x="5042295" y="2633236"/>
            <a:ext cx="7023449" cy="3664687"/>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110000"/>
              </a:lnSpc>
              <a:spcAft>
                <a:spcPts val="600"/>
              </a:spcAft>
              <a:buSzPct val="87000"/>
            </a:pPr>
            <a:r>
              <a:rPr lang="en-US" sz="1500" b="1"/>
              <a:t>Goal:</a:t>
            </a:r>
            <a:r>
              <a:rPr lang="en-US" sz="1500"/>
              <a:t> </a:t>
            </a:r>
          </a:p>
          <a:p>
            <a:pPr marL="285750" indent="-285750">
              <a:lnSpc>
                <a:spcPct val="110000"/>
              </a:lnSpc>
              <a:spcAft>
                <a:spcPts val="600"/>
              </a:spcAft>
              <a:buSzPct val="87000"/>
              <a:buFont typeface="Arial"/>
              <a:buChar char="•"/>
            </a:pPr>
            <a:r>
              <a:rPr lang="en-US" sz="1500"/>
              <a:t>Components for each PCB was ordered</a:t>
            </a:r>
          </a:p>
          <a:p>
            <a:pPr marL="742950" lvl="1" indent="-285750">
              <a:lnSpc>
                <a:spcPct val="110000"/>
              </a:lnSpc>
              <a:spcAft>
                <a:spcPts val="600"/>
              </a:spcAft>
              <a:buSzPct val="87000"/>
              <a:buFont typeface="Courier New"/>
              <a:buChar char="o"/>
            </a:pPr>
            <a:r>
              <a:rPr lang="en-US" sz="1500"/>
              <a:t>A lot of the component's shipment got delayed, so reordered them to be safe</a:t>
            </a:r>
          </a:p>
          <a:p>
            <a:pPr marL="285750" indent="-285750">
              <a:lnSpc>
                <a:spcPct val="110000"/>
              </a:lnSpc>
              <a:spcAft>
                <a:spcPts val="600"/>
              </a:spcAft>
              <a:buSzPct val="87000"/>
              <a:buFont typeface="Arial"/>
              <a:buChar char="•"/>
            </a:pPr>
            <a:r>
              <a:rPr lang="en-US" sz="1500"/>
              <a:t>Started soldering the components that we do have</a:t>
            </a:r>
          </a:p>
          <a:p>
            <a:pPr marL="742950" lvl="1" indent="-285750">
              <a:lnSpc>
                <a:spcPct val="110000"/>
              </a:lnSpc>
              <a:spcAft>
                <a:spcPts val="600"/>
              </a:spcAft>
              <a:buSzPct val="87000"/>
              <a:buFont typeface="Courier New"/>
              <a:buChar char="o"/>
            </a:pPr>
            <a:r>
              <a:rPr lang="en-US" sz="1500"/>
              <a:t>Once the remaining components arrive will finish assembling the PCBs and start the software/hardware integration</a:t>
            </a:r>
          </a:p>
          <a:p>
            <a:pPr marL="285750" indent="-285750">
              <a:lnSpc>
                <a:spcPct val="110000"/>
              </a:lnSpc>
              <a:spcAft>
                <a:spcPts val="600"/>
              </a:spcAft>
              <a:buSzPct val="87000"/>
              <a:buFont typeface="Arial"/>
              <a:buChar char="•"/>
            </a:pPr>
            <a:endParaRPr lang="en-US" sz="1500"/>
          </a:p>
        </p:txBody>
      </p:sp>
    </p:spTree>
    <p:extLst>
      <p:ext uri="{BB962C8B-B14F-4D97-AF65-F5344CB8AC3E}">
        <p14:creationId xmlns:p14="http://schemas.microsoft.com/office/powerpoint/2010/main" val="441985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3B6745-1D3C-2E50-CFD5-1EDB0D203007}"/>
              </a:ext>
            </a:extLst>
          </p:cNvPr>
          <p:cNvSpPr>
            <a:spLocks noGrp="1"/>
          </p:cNvSpPr>
          <p:nvPr>
            <p:ph type="title"/>
          </p:nvPr>
        </p:nvSpPr>
        <p:spPr>
          <a:xfrm>
            <a:off x="992570" y="1171145"/>
            <a:ext cx="10168106" cy="955515"/>
          </a:xfrm>
        </p:spPr>
        <p:txBody>
          <a:bodyPr vert="horz" lIns="91440" tIns="45720" rIns="91440" bIns="45720" rtlCol="0" anchor="t">
            <a:normAutofit/>
          </a:bodyPr>
          <a:lstStyle/>
          <a:p>
            <a:pPr algn="ctr"/>
            <a:r>
              <a:rPr lang="en-US" sz="4800"/>
              <a:t>PCB Designs</a:t>
            </a:r>
          </a:p>
        </p:txBody>
      </p:sp>
      <p:cxnSp>
        <p:nvCxnSpPr>
          <p:cNvPr id="13" name="Straight Connector 12">
            <a:extLst>
              <a:ext uri="{FF2B5EF4-FFF2-40B4-BE49-F238E27FC236}">
                <a16:creationId xmlns:a16="http://schemas.microsoft.com/office/drawing/2014/main" id="{6CE0D2A5-C167-FB61-F32A-674B344F2D1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2570" y="914400"/>
            <a:ext cx="10208830"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3" name="Picture 2" descr="A circuit board with many wires and circles&#10;&#10;AI-generated content may be incorrect.">
            <a:extLst>
              <a:ext uri="{FF2B5EF4-FFF2-40B4-BE49-F238E27FC236}">
                <a16:creationId xmlns:a16="http://schemas.microsoft.com/office/drawing/2014/main" id="{5D857EA5-AFE1-F569-9447-5D4B8B92A872}"/>
              </a:ext>
            </a:extLst>
          </p:cNvPr>
          <p:cNvPicPr>
            <a:picLocks noChangeAspect="1"/>
          </p:cNvPicPr>
          <p:nvPr/>
        </p:nvPicPr>
        <p:blipFill>
          <a:blip r:embed="rId2"/>
          <a:stretch>
            <a:fillRect/>
          </a:stretch>
        </p:blipFill>
        <p:spPr>
          <a:xfrm>
            <a:off x="1541750" y="2886923"/>
            <a:ext cx="4428995" cy="3299601"/>
          </a:xfrm>
          <a:prstGeom prst="rect">
            <a:avLst/>
          </a:prstGeom>
        </p:spPr>
      </p:pic>
      <p:pic>
        <p:nvPicPr>
          <p:cNvPr id="4" name="Picture 3" descr="A computer circuit board with many different colored lines&#10;&#10;AI-generated content may be incorrect.">
            <a:extLst>
              <a:ext uri="{FF2B5EF4-FFF2-40B4-BE49-F238E27FC236}">
                <a16:creationId xmlns:a16="http://schemas.microsoft.com/office/drawing/2014/main" id="{3334F517-5083-C335-465B-821EB6D4CE57}"/>
              </a:ext>
            </a:extLst>
          </p:cNvPr>
          <p:cNvPicPr>
            <a:picLocks noChangeAspect="1"/>
          </p:cNvPicPr>
          <p:nvPr/>
        </p:nvPicPr>
        <p:blipFill>
          <a:blip r:embed="rId3"/>
          <a:stretch>
            <a:fillRect/>
          </a:stretch>
        </p:blipFill>
        <p:spPr>
          <a:xfrm>
            <a:off x="6182500" y="2886923"/>
            <a:ext cx="4647324" cy="3299601"/>
          </a:xfrm>
          <a:prstGeom prst="rect">
            <a:avLst/>
          </a:prstGeom>
        </p:spPr>
      </p:pic>
      <p:sp>
        <p:nvSpPr>
          <p:cNvPr id="5" name="TextBox 4">
            <a:extLst>
              <a:ext uri="{FF2B5EF4-FFF2-40B4-BE49-F238E27FC236}">
                <a16:creationId xmlns:a16="http://schemas.microsoft.com/office/drawing/2014/main" id="{F5867D88-3B30-84B9-4D08-E12396E70F0D}"/>
              </a:ext>
            </a:extLst>
          </p:cNvPr>
          <p:cNvSpPr txBox="1"/>
          <p:nvPr/>
        </p:nvSpPr>
        <p:spPr>
          <a:xfrm>
            <a:off x="2854655" y="2515654"/>
            <a:ext cx="179923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Electrode Board</a:t>
            </a:r>
          </a:p>
        </p:txBody>
      </p:sp>
      <p:sp>
        <p:nvSpPr>
          <p:cNvPr id="6" name="TextBox 5">
            <a:extLst>
              <a:ext uri="{FF2B5EF4-FFF2-40B4-BE49-F238E27FC236}">
                <a16:creationId xmlns:a16="http://schemas.microsoft.com/office/drawing/2014/main" id="{0D4DBF7B-B0FE-4DDC-32B3-38F74A9BDAF5}"/>
              </a:ext>
            </a:extLst>
          </p:cNvPr>
          <p:cNvSpPr txBox="1"/>
          <p:nvPr/>
        </p:nvSpPr>
        <p:spPr>
          <a:xfrm>
            <a:off x="7748939" y="2516613"/>
            <a:ext cx="172578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Control Board</a:t>
            </a:r>
          </a:p>
        </p:txBody>
      </p:sp>
    </p:spTree>
    <p:extLst>
      <p:ext uri="{BB962C8B-B14F-4D97-AF65-F5344CB8AC3E}">
        <p14:creationId xmlns:p14="http://schemas.microsoft.com/office/powerpoint/2010/main" val="1500324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6" name="Rectangle 25">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0A41C1-84EB-50CD-4B27-2418F80B090E}"/>
              </a:ext>
            </a:extLst>
          </p:cNvPr>
          <p:cNvSpPr>
            <a:spLocks noGrp="1"/>
          </p:cNvSpPr>
          <p:nvPr>
            <p:ph type="title"/>
          </p:nvPr>
        </p:nvSpPr>
        <p:spPr>
          <a:xfrm>
            <a:off x="640080" y="1371600"/>
            <a:ext cx="5852160" cy="1097280"/>
          </a:xfrm>
        </p:spPr>
        <p:txBody>
          <a:bodyPr vert="horz" lIns="91440" tIns="45720" rIns="91440" bIns="45720" rtlCol="0" anchor="t">
            <a:normAutofit/>
          </a:bodyPr>
          <a:lstStyle/>
          <a:p>
            <a:r>
              <a:rPr lang="en-US"/>
              <a:t>Case Design Milestone</a:t>
            </a:r>
          </a:p>
        </p:txBody>
      </p:sp>
      <p:cxnSp>
        <p:nvCxnSpPr>
          <p:cNvPr id="28" name="Straight Connector 27">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628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4223CE6-D084-934A-FF07-DAD86A03F1EF}"/>
              </a:ext>
            </a:extLst>
          </p:cNvPr>
          <p:cNvSpPr txBox="1"/>
          <p:nvPr/>
        </p:nvSpPr>
        <p:spPr>
          <a:xfrm>
            <a:off x="640080" y="2633236"/>
            <a:ext cx="5852160" cy="3664685"/>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120000"/>
              </a:lnSpc>
              <a:spcAft>
                <a:spcPts val="600"/>
              </a:spcAft>
              <a:buSzPct val="87000"/>
            </a:pPr>
            <a:r>
              <a:rPr lang="en-US" b="1"/>
              <a:t>Goal:</a:t>
            </a:r>
            <a:r>
              <a:rPr lang="en-US"/>
              <a:t> </a:t>
            </a:r>
          </a:p>
          <a:p>
            <a:pPr marL="285750" indent="-285750">
              <a:lnSpc>
                <a:spcPct val="120000"/>
              </a:lnSpc>
              <a:spcAft>
                <a:spcPts val="600"/>
              </a:spcAft>
              <a:buSzPct val="87000"/>
              <a:buFont typeface="Arial" panose="020B0604020202020204" pitchFamily="34" charset="0"/>
              <a:buChar char="•"/>
            </a:pPr>
            <a:r>
              <a:rPr lang="en-US"/>
              <a:t>Completed the new versions of each enclosure</a:t>
            </a:r>
          </a:p>
          <a:p>
            <a:pPr marL="285750" indent="-285750">
              <a:lnSpc>
                <a:spcPct val="120000"/>
              </a:lnSpc>
              <a:spcAft>
                <a:spcPts val="600"/>
              </a:spcAft>
              <a:buSzPct val="87000"/>
              <a:buFont typeface="Arial" panose="020B0604020202020204" pitchFamily="34" charset="0"/>
              <a:buChar char="•"/>
            </a:pPr>
            <a:r>
              <a:rPr lang="en-US"/>
              <a:t>Both enclosures are now roughly 43% smaller than version 1</a:t>
            </a:r>
          </a:p>
          <a:p>
            <a:pPr marL="285750" indent="-285750">
              <a:lnSpc>
                <a:spcPct val="120000"/>
              </a:lnSpc>
              <a:spcAft>
                <a:spcPts val="600"/>
              </a:spcAft>
              <a:buSzPct val="87000"/>
              <a:buFont typeface="Arial" panose="020B0604020202020204" pitchFamily="34" charset="0"/>
              <a:buChar char="•"/>
            </a:pPr>
            <a:r>
              <a:rPr lang="en-US"/>
              <a:t>Instead of the ears for attaching our wristband being on the sides of the case. They are now on top of the lid, so the footprint of the case is smaller.</a:t>
            </a:r>
          </a:p>
        </p:txBody>
      </p:sp>
      <p:pic>
        <p:nvPicPr>
          <p:cNvPr id="3" name="Picture 2" descr="A close-up of a machine&#10;&#10;AI-generated content may be incorrect.">
            <a:extLst>
              <a:ext uri="{FF2B5EF4-FFF2-40B4-BE49-F238E27FC236}">
                <a16:creationId xmlns:a16="http://schemas.microsoft.com/office/drawing/2014/main" id="{E86CAE5E-B864-9EBE-4ADE-051C5AC13027}"/>
              </a:ext>
            </a:extLst>
          </p:cNvPr>
          <p:cNvPicPr>
            <a:picLocks noChangeAspect="1"/>
          </p:cNvPicPr>
          <p:nvPr/>
        </p:nvPicPr>
        <p:blipFill>
          <a:blip r:embed="rId2"/>
          <a:srcRect l="118"/>
          <a:stretch>
            <a:fillRect/>
          </a:stretch>
        </p:blipFill>
        <p:spPr>
          <a:xfrm>
            <a:off x="7345680" y="10"/>
            <a:ext cx="4846320" cy="6857990"/>
          </a:xfrm>
          <a:prstGeom prst="rect">
            <a:avLst/>
          </a:prstGeom>
        </p:spPr>
      </p:pic>
    </p:spTree>
    <p:extLst>
      <p:ext uri="{BB962C8B-B14F-4D97-AF65-F5344CB8AC3E}">
        <p14:creationId xmlns:p14="http://schemas.microsoft.com/office/powerpoint/2010/main" val="1457925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45E919-06E5-0370-C889-94FBE45177D1}"/>
            </a:ext>
          </a:extLst>
        </p:cNvPr>
        <p:cNvGrpSpPr/>
        <p:nvPr/>
      </p:nvGrpSpPr>
      <p:grpSpPr>
        <a:xfrm>
          <a:off x="0" y="0"/>
          <a:ext cx="0" cy="0"/>
          <a:chOff x="0" y="0"/>
          <a:chExt cx="0" cy="0"/>
        </a:xfrm>
      </p:grpSpPr>
      <p:cxnSp>
        <p:nvCxnSpPr>
          <p:cNvPr id="33" name="Straight Connector 32">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35" name="Rectangle 34">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959BBABA-3B0B-E878-F272-BC219B649386}"/>
              </a:ext>
            </a:extLst>
          </p:cNvPr>
          <p:cNvSpPr>
            <a:spLocks noGrp="1"/>
          </p:cNvSpPr>
          <p:nvPr>
            <p:ph type="title"/>
          </p:nvPr>
        </p:nvSpPr>
        <p:spPr>
          <a:xfrm>
            <a:off x="514117" y="952500"/>
            <a:ext cx="4124557" cy="3524250"/>
          </a:xfrm>
        </p:spPr>
        <p:txBody>
          <a:bodyPr vert="horz" lIns="91440" tIns="45720" rIns="91440" bIns="45720" rtlCol="0" anchor="t">
            <a:normAutofit/>
          </a:bodyPr>
          <a:lstStyle/>
          <a:p>
            <a:pPr>
              <a:lnSpc>
                <a:spcPct val="90000"/>
              </a:lnSpc>
            </a:pPr>
            <a:r>
              <a:rPr lang="en-US" sz="5800" b="1" kern="1200">
                <a:latin typeface="+mj-lt"/>
                <a:ea typeface="+mj-ea"/>
                <a:cs typeface="+mj-cs"/>
              </a:rPr>
              <a:t>Case Design</a:t>
            </a:r>
            <a:br>
              <a:rPr lang="en-US" sz="5800" b="1" kern="1200"/>
            </a:br>
            <a:r>
              <a:rPr lang="en-US" sz="5800" b="1" kern="1200">
                <a:latin typeface="+mj-lt"/>
                <a:ea typeface="+mj-ea"/>
                <a:cs typeface="+mj-cs"/>
              </a:rPr>
              <a:t>Control </a:t>
            </a:r>
            <a:r>
              <a:rPr lang="en-US" sz="5800"/>
              <a:t>Board</a:t>
            </a:r>
            <a:r>
              <a:rPr lang="en-US" sz="5800" b="1" kern="1200">
                <a:latin typeface="+mj-lt"/>
                <a:ea typeface="+mj-ea"/>
                <a:cs typeface="+mj-cs"/>
              </a:rPr>
              <a:t> PCB </a:t>
            </a:r>
          </a:p>
        </p:txBody>
      </p:sp>
      <p:cxnSp>
        <p:nvCxnSpPr>
          <p:cNvPr id="37" name="Straight Connector 36">
            <a:extLst>
              <a:ext uri="{FF2B5EF4-FFF2-40B4-BE49-F238E27FC236}">
                <a16:creationId xmlns:a16="http://schemas.microsoft.com/office/drawing/2014/main" id="{A2D508B3-A66C-833E-D929-8DC21163567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2088" y="4882722"/>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76F954E6-EF07-046B-42D1-E8FE694EB998}"/>
              </a:ext>
            </a:extLst>
          </p:cNvPr>
          <p:cNvPicPr>
            <a:picLocks noChangeAspect="1"/>
          </p:cNvPicPr>
          <p:nvPr/>
        </p:nvPicPr>
        <p:blipFill>
          <a:blip r:embed="rId2"/>
          <a:srcRect l="6502" r="7371"/>
          <a:stretch>
            <a:fillRect/>
          </a:stretch>
        </p:blipFill>
        <p:spPr>
          <a:xfrm>
            <a:off x="4544344" y="10"/>
            <a:ext cx="8281445" cy="6857990"/>
          </a:xfrm>
          <a:prstGeom prst="rect">
            <a:avLst/>
          </a:prstGeom>
        </p:spPr>
      </p:pic>
    </p:spTree>
    <p:extLst>
      <p:ext uri="{BB962C8B-B14F-4D97-AF65-F5344CB8AC3E}">
        <p14:creationId xmlns:p14="http://schemas.microsoft.com/office/powerpoint/2010/main" val="2425924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AB98E2-71E9-0530-857A-555AD17F9AA3}"/>
            </a:ext>
          </a:extLst>
        </p:cNvPr>
        <p:cNvGrpSpPr/>
        <p:nvPr/>
      </p:nvGrpSpPr>
      <p:grpSpPr>
        <a:xfrm>
          <a:off x="0" y="0"/>
          <a:ext cx="0" cy="0"/>
          <a:chOff x="0" y="0"/>
          <a:chExt cx="0" cy="0"/>
        </a:xfrm>
      </p:grpSpPr>
      <p:cxnSp>
        <p:nvCxnSpPr>
          <p:cNvPr id="51" name="Straight Connector 50">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53" name="Rectangle 52">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E6E80A0F-DCAF-380A-6F4C-DCD07EA79F79}"/>
              </a:ext>
            </a:extLst>
          </p:cNvPr>
          <p:cNvSpPr>
            <a:spLocks noGrp="1"/>
          </p:cNvSpPr>
          <p:nvPr>
            <p:ph type="title"/>
          </p:nvPr>
        </p:nvSpPr>
        <p:spPr>
          <a:xfrm>
            <a:off x="514117" y="952500"/>
            <a:ext cx="4124557" cy="3524250"/>
          </a:xfrm>
        </p:spPr>
        <p:txBody>
          <a:bodyPr vert="horz" lIns="91440" tIns="45720" rIns="91440" bIns="45720" rtlCol="0" anchor="t">
            <a:normAutofit/>
          </a:bodyPr>
          <a:lstStyle/>
          <a:p>
            <a:pPr>
              <a:lnSpc>
                <a:spcPct val="90000"/>
              </a:lnSpc>
            </a:pPr>
            <a:r>
              <a:rPr lang="en-US" sz="5800" b="1" kern="1200">
                <a:solidFill>
                  <a:schemeClr val="tx1"/>
                </a:solidFill>
                <a:latin typeface="+mj-lt"/>
                <a:ea typeface="+mj-ea"/>
                <a:cs typeface="+mj-cs"/>
              </a:rPr>
              <a:t>Case Design</a:t>
            </a:r>
            <a:br>
              <a:rPr lang="en-US" sz="5800" b="1" kern="1200">
                <a:solidFill>
                  <a:schemeClr val="tx1"/>
                </a:solidFill>
                <a:latin typeface="+mj-lt"/>
                <a:ea typeface="+mj-ea"/>
                <a:cs typeface="+mj-cs"/>
              </a:rPr>
            </a:br>
            <a:r>
              <a:rPr lang="en-US" sz="5800" b="1" kern="1200">
                <a:solidFill>
                  <a:schemeClr val="tx1"/>
                </a:solidFill>
                <a:latin typeface="+mj-lt"/>
                <a:ea typeface="+mj-ea"/>
                <a:cs typeface="+mj-cs"/>
              </a:rPr>
              <a:t>Electrode Board PCB </a:t>
            </a:r>
          </a:p>
        </p:txBody>
      </p:sp>
      <p:cxnSp>
        <p:nvCxnSpPr>
          <p:cNvPr id="55" name="Straight Connector 54">
            <a:extLst>
              <a:ext uri="{FF2B5EF4-FFF2-40B4-BE49-F238E27FC236}">
                <a16:creationId xmlns:a16="http://schemas.microsoft.com/office/drawing/2014/main" id="{A2D508B3-A66C-833E-D929-8DC21163567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2088" y="4882722"/>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F5270FA8-1D80-8319-F3C4-F2B652E1FEE7}"/>
              </a:ext>
            </a:extLst>
          </p:cNvPr>
          <p:cNvPicPr>
            <a:picLocks noChangeAspect="1"/>
          </p:cNvPicPr>
          <p:nvPr/>
        </p:nvPicPr>
        <p:blipFill>
          <a:blip r:embed="rId2"/>
          <a:srcRect l="6967" r="6992"/>
          <a:stretch>
            <a:fillRect/>
          </a:stretch>
        </p:blipFill>
        <p:spPr>
          <a:xfrm>
            <a:off x="5047412" y="10"/>
            <a:ext cx="7355414" cy="6857990"/>
          </a:xfrm>
          <a:prstGeom prst="rect">
            <a:avLst/>
          </a:prstGeom>
        </p:spPr>
      </p:pic>
    </p:spTree>
    <p:extLst>
      <p:ext uri="{BB962C8B-B14F-4D97-AF65-F5344CB8AC3E}">
        <p14:creationId xmlns:p14="http://schemas.microsoft.com/office/powerpoint/2010/main" val="1409664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CE6C2-B7C2-42E4-B8D9-3F48DA486017}"/>
            </a:ext>
          </a:extLst>
        </p:cNvPr>
        <p:cNvGrpSpPr/>
        <p:nvPr/>
      </p:nvGrpSpPr>
      <p:grpSpPr>
        <a:xfrm>
          <a:off x="0" y="0"/>
          <a:ext cx="0" cy="0"/>
          <a:chOff x="0" y="0"/>
          <a:chExt cx="0" cy="0"/>
        </a:xfrm>
      </p:grpSpPr>
      <p:pic>
        <p:nvPicPr>
          <p:cNvPr id="8" name="Picture 7" descr="A gold trophy with two handles&#10;&#10;AI-generated content may be incorrect.">
            <a:extLst>
              <a:ext uri="{FF2B5EF4-FFF2-40B4-BE49-F238E27FC236}">
                <a16:creationId xmlns:a16="http://schemas.microsoft.com/office/drawing/2014/main" id="{422D2537-1CFF-8BA4-6145-AB972330DE81}"/>
              </a:ext>
            </a:extLst>
          </p:cNvPr>
          <p:cNvPicPr>
            <a:picLocks noChangeAspect="1"/>
          </p:cNvPicPr>
          <p:nvPr/>
        </p:nvPicPr>
        <p:blipFill>
          <a:blip r:embed="rId2">
            <a:alphaModFix amt="32000"/>
          </a:blip>
          <a:stretch>
            <a:fillRect/>
          </a:stretch>
        </p:blipFill>
        <p:spPr>
          <a:xfrm>
            <a:off x="3466938" y="809312"/>
            <a:ext cx="5232292" cy="5232292"/>
          </a:xfrm>
          <a:prstGeom prst="rect">
            <a:avLst/>
          </a:prstGeom>
        </p:spPr>
      </p:pic>
      <p:sp>
        <p:nvSpPr>
          <p:cNvPr id="2" name="Title 1">
            <a:extLst>
              <a:ext uri="{FF2B5EF4-FFF2-40B4-BE49-F238E27FC236}">
                <a16:creationId xmlns:a16="http://schemas.microsoft.com/office/drawing/2014/main" id="{FBEF3F2B-3216-83B7-5394-A189473B67A0}"/>
              </a:ext>
            </a:extLst>
          </p:cNvPr>
          <p:cNvSpPr>
            <a:spLocks noGrp="1"/>
          </p:cNvSpPr>
          <p:nvPr>
            <p:ph type="title"/>
          </p:nvPr>
        </p:nvSpPr>
        <p:spPr/>
        <p:txBody>
          <a:bodyPr/>
          <a:lstStyle/>
          <a:p>
            <a:r>
              <a:rPr lang="en-US"/>
              <a:t>Accomplishments </a:t>
            </a:r>
          </a:p>
        </p:txBody>
      </p:sp>
      <p:sp>
        <p:nvSpPr>
          <p:cNvPr id="3" name="Text Placeholder 2">
            <a:extLst>
              <a:ext uri="{FF2B5EF4-FFF2-40B4-BE49-F238E27FC236}">
                <a16:creationId xmlns:a16="http://schemas.microsoft.com/office/drawing/2014/main" id="{0CFAB8F8-4468-90D8-C8B7-3EAAC2F3AC25}"/>
              </a:ext>
            </a:extLst>
          </p:cNvPr>
          <p:cNvSpPr>
            <a:spLocks noGrp="1"/>
          </p:cNvSpPr>
          <p:nvPr>
            <p:ph type="body" idx="1"/>
          </p:nvPr>
        </p:nvSpPr>
        <p:spPr/>
        <p:txBody>
          <a:bodyPr/>
          <a:lstStyle/>
          <a:p>
            <a:r>
              <a:rPr lang="en-US" err="1"/>
              <a:t>SoftWare</a:t>
            </a:r>
          </a:p>
        </p:txBody>
      </p:sp>
      <p:sp>
        <p:nvSpPr>
          <p:cNvPr id="4" name="Content Placeholder 3">
            <a:extLst>
              <a:ext uri="{FF2B5EF4-FFF2-40B4-BE49-F238E27FC236}">
                <a16:creationId xmlns:a16="http://schemas.microsoft.com/office/drawing/2014/main" id="{6E71A22C-F613-7BC5-EE8A-1DB3350C5C6B}"/>
              </a:ext>
            </a:extLst>
          </p:cNvPr>
          <p:cNvSpPr>
            <a:spLocks noGrp="1"/>
          </p:cNvSpPr>
          <p:nvPr>
            <p:ph sz="half" idx="2"/>
          </p:nvPr>
        </p:nvSpPr>
        <p:spPr/>
        <p:txBody>
          <a:bodyPr vert="horz" lIns="91440" tIns="45720" rIns="91440" bIns="45720" rtlCol="0" anchor="t">
            <a:normAutofit/>
          </a:bodyPr>
          <a:lstStyle/>
          <a:p>
            <a:r>
              <a:rPr lang="en-US"/>
              <a:t>Succeeded at getting overall gesture prediction model above 90% accuracy</a:t>
            </a:r>
          </a:p>
          <a:p>
            <a:r>
              <a:rPr lang="en-US"/>
              <a:t>Was able to take in new data from 9 people</a:t>
            </a:r>
          </a:p>
          <a:p>
            <a:r>
              <a:rPr lang="en-US"/>
              <a:t>Most gestures performing above 90% accuracy with prediction model</a:t>
            </a:r>
          </a:p>
          <a:p>
            <a:r>
              <a:rPr lang="en-US"/>
              <a:t>Assigned final gestures to their letter groups/ commands</a:t>
            </a:r>
          </a:p>
          <a:p>
            <a:endParaRPr lang="en-US"/>
          </a:p>
          <a:p>
            <a:endParaRPr lang="en-US"/>
          </a:p>
        </p:txBody>
      </p:sp>
      <p:sp>
        <p:nvSpPr>
          <p:cNvPr id="5" name="Text Placeholder 4">
            <a:extLst>
              <a:ext uri="{FF2B5EF4-FFF2-40B4-BE49-F238E27FC236}">
                <a16:creationId xmlns:a16="http://schemas.microsoft.com/office/drawing/2014/main" id="{AC36DD64-686E-119F-0BFB-57ABFDB5947D}"/>
              </a:ext>
            </a:extLst>
          </p:cNvPr>
          <p:cNvSpPr>
            <a:spLocks noGrp="1"/>
          </p:cNvSpPr>
          <p:nvPr>
            <p:ph type="body" sz="quarter" idx="3"/>
          </p:nvPr>
        </p:nvSpPr>
        <p:spPr/>
        <p:txBody>
          <a:bodyPr/>
          <a:lstStyle/>
          <a:p>
            <a:r>
              <a:rPr lang="en-US" err="1"/>
              <a:t>HardWare</a:t>
            </a:r>
          </a:p>
        </p:txBody>
      </p:sp>
      <p:sp>
        <p:nvSpPr>
          <p:cNvPr id="6" name="Content Placeholder 5">
            <a:extLst>
              <a:ext uri="{FF2B5EF4-FFF2-40B4-BE49-F238E27FC236}">
                <a16:creationId xmlns:a16="http://schemas.microsoft.com/office/drawing/2014/main" id="{FD65EAC6-E77F-5A02-1121-DC45571ABB54}"/>
              </a:ext>
            </a:extLst>
          </p:cNvPr>
          <p:cNvSpPr>
            <a:spLocks noGrp="1"/>
          </p:cNvSpPr>
          <p:nvPr>
            <p:ph sz="quarter" idx="4"/>
          </p:nvPr>
        </p:nvSpPr>
        <p:spPr/>
        <p:txBody>
          <a:bodyPr vert="horz" lIns="91440" tIns="45720" rIns="91440" bIns="45720" rtlCol="0" anchor="t">
            <a:normAutofit/>
          </a:bodyPr>
          <a:lstStyle/>
          <a:p>
            <a:r>
              <a:rPr lang="en-US"/>
              <a:t>Ordered all the components for the PCBs</a:t>
            </a:r>
          </a:p>
          <a:p>
            <a:r>
              <a:rPr lang="en-US"/>
              <a:t>Made each enclosure roughly 43% smaller than earlier version</a:t>
            </a:r>
          </a:p>
          <a:p>
            <a:r>
              <a:rPr lang="en-US"/>
              <a:t>Fit tested each enclosure with their respected PCBs</a:t>
            </a:r>
          </a:p>
          <a:p>
            <a:r>
              <a:rPr lang="en-US"/>
              <a:t>Started soldering the components we have on to the PCBs</a:t>
            </a:r>
          </a:p>
          <a:p>
            <a:endParaRPr lang="en-US"/>
          </a:p>
        </p:txBody>
      </p:sp>
    </p:spTree>
    <p:extLst>
      <p:ext uri="{BB962C8B-B14F-4D97-AF65-F5344CB8AC3E}">
        <p14:creationId xmlns:p14="http://schemas.microsoft.com/office/powerpoint/2010/main" val="1639645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hallenges PNGs for Free Download">
            <a:extLst>
              <a:ext uri="{FF2B5EF4-FFF2-40B4-BE49-F238E27FC236}">
                <a16:creationId xmlns:a16="http://schemas.microsoft.com/office/drawing/2014/main" id="{1BE8EF6F-D895-C02E-5B5D-4E7DFEE1AF63}"/>
              </a:ext>
            </a:extLst>
          </p:cNvPr>
          <p:cNvPicPr>
            <a:picLocks noChangeAspect="1"/>
          </p:cNvPicPr>
          <p:nvPr/>
        </p:nvPicPr>
        <p:blipFill>
          <a:blip r:embed="rId2">
            <a:alphaModFix amt="43000"/>
          </a:blip>
          <a:stretch>
            <a:fillRect/>
          </a:stretch>
        </p:blipFill>
        <p:spPr>
          <a:xfrm>
            <a:off x="2742231" y="1374667"/>
            <a:ext cx="6681706" cy="5232292"/>
          </a:xfrm>
          <a:prstGeom prst="rect">
            <a:avLst/>
          </a:prstGeom>
        </p:spPr>
      </p:pic>
      <p:sp>
        <p:nvSpPr>
          <p:cNvPr id="2" name="Title 1">
            <a:extLst>
              <a:ext uri="{FF2B5EF4-FFF2-40B4-BE49-F238E27FC236}">
                <a16:creationId xmlns:a16="http://schemas.microsoft.com/office/drawing/2014/main" id="{08F68B06-512B-329A-E8A8-7BDACE3846EC}"/>
              </a:ext>
            </a:extLst>
          </p:cNvPr>
          <p:cNvSpPr>
            <a:spLocks noGrp="1"/>
          </p:cNvSpPr>
          <p:nvPr>
            <p:ph type="title"/>
          </p:nvPr>
        </p:nvSpPr>
        <p:spPr/>
        <p:txBody>
          <a:bodyPr/>
          <a:lstStyle/>
          <a:p>
            <a:r>
              <a:rPr lang="en-US"/>
              <a:t>Challenges and Obstacles </a:t>
            </a:r>
          </a:p>
        </p:txBody>
      </p:sp>
      <p:sp>
        <p:nvSpPr>
          <p:cNvPr id="3" name="Text Placeholder 2">
            <a:extLst>
              <a:ext uri="{FF2B5EF4-FFF2-40B4-BE49-F238E27FC236}">
                <a16:creationId xmlns:a16="http://schemas.microsoft.com/office/drawing/2014/main" id="{616FCCF6-2CBA-10E2-4862-DE934C08DD81}"/>
              </a:ext>
            </a:extLst>
          </p:cNvPr>
          <p:cNvSpPr>
            <a:spLocks noGrp="1"/>
          </p:cNvSpPr>
          <p:nvPr>
            <p:ph type="body" idx="1"/>
          </p:nvPr>
        </p:nvSpPr>
        <p:spPr/>
        <p:txBody>
          <a:bodyPr/>
          <a:lstStyle/>
          <a:p>
            <a:r>
              <a:rPr lang="en-US" err="1"/>
              <a:t>SoftWare</a:t>
            </a:r>
          </a:p>
        </p:txBody>
      </p:sp>
      <p:sp>
        <p:nvSpPr>
          <p:cNvPr id="4" name="Content Placeholder 3">
            <a:extLst>
              <a:ext uri="{FF2B5EF4-FFF2-40B4-BE49-F238E27FC236}">
                <a16:creationId xmlns:a16="http://schemas.microsoft.com/office/drawing/2014/main" id="{7D81B6B5-E71A-DDB5-0545-1B649EA14270}"/>
              </a:ext>
            </a:extLst>
          </p:cNvPr>
          <p:cNvSpPr>
            <a:spLocks noGrp="1"/>
          </p:cNvSpPr>
          <p:nvPr>
            <p:ph sz="half" idx="2"/>
          </p:nvPr>
        </p:nvSpPr>
        <p:spPr/>
        <p:txBody>
          <a:bodyPr vert="horz" lIns="91440" tIns="45720" rIns="91440" bIns="45720" rtlCol="0" anchor="t">
            <a:normAutofit/>
          </a:bodyPr>
          <a:lstStyle/>
          <a:p>
            <a:r>
              <a:rPr lang="en-US"/>
              <a:t>Still not able to get many volunteers</a:t>
            </a:r>
          </a:p>
          <a:p>
            <a:r>
              <a:rPr lang="en-US"/>
              <a:t>Two gestures still under 90% accuracy</a:t>
            </a:r>
          </a:p>
          <a:p>
            <a:r>
              <a:rPr lang="en-US"/>
              <a:t>Unable to run the </a:t>
            </a:r>
            <a:r>
              <a:rPr lang="en-US" err="1"/>
              <a:t>FlexType</a:t>
            </a:r>
            <a:r>
              <a:rPr lang="en-US"/>
              <a:t> model locally on Raspberry Pi</a:t>
            </a:r>
          </a:p>
          <a:p>
            <a:endParaRPr lang="en-US"/>
          </a:p>
          <a:p>
            <a:endParaRPr lang="en-US"/>
          </a:p>
        </p:txBody>
      </p:sp>
      <p:sp>
        <p:nvSpPr>
          <p:cNvPr id="5" name="Text Placeholder 4">
            <a:extLst>
              <a:ext uri="{FF2B5EF4-FFF2-40B4-BE49-F238E27FC236}">
                <a16:creationId xmlns:a16="http://schemas.microsoft.com/office/drawing/2014/main" id="{C2BD7656-70E0-E486-24A0-45BED5FDC001}"/>
              </a:ext>
            </a:extLst>
          </p:cNvPr>
          <p:cNvSpPr>
            <a:spLocks noGrp="1"/>
          </p:cNvSpPr>
          <p:nvPr>
            <p:ph type="body" sz="quarter" idx="3"/>
          </p:nvPr>
        </p:nvSpPr>
        <p:spPr/>
        <p:txBody>
          <a:bodyPr/>
          <a:lstStyle/>
          <a:p>
            <a:r>
              <a:rPr lang="en-US" err="1"/>
              <a:t>HardWare</a:t>
            </a:r>
          </a:p>
        </p:txBody>
      </p:sp>
      <p:sp>
        <p:nvSpPr>
          <p:cNvPr id="6" name="Content Placeholder 5">
            <a:extLst>
              <a:ext uri="{FF2B5EF4-FFF2-40B4-BE49-F238E27FC236}">
                <a16:creationId xmlns:a16="http://schemas.microsoft.com/office/drawing/2014/main" id="{B367EDEA-795D-10DC-7035-104986A3393A}"/>
              </a:ext>
            </a:extLst>
          </p:cNvPr>
          <p:cNvSpPr>
            <a:spLocks noGrp="1"/>
          </p:cNvSpPr>
          <p:nvPr>
            <p:ph sz="quarter" idx="4"/>
          </p:nvPr>
        </p:nvSpPr>
        <p:spPr/>
        <p:txBody>
          <a:bodyPr vert="horz" lIns="91440" tIns="45720" rIns="91440" bIns="45720" rtlCol="0" anchor="t">
            <a:normAutofit/>
          </a:bodyPr>
          <a:lstStyle/>
          <a:p>
            <a:r>
              <a:rPr lang="en-US"/>
              <a:t>Designing the electrode PCB enclosure to be small enough so that 3 to 4 PCBs can fit on an arm.</a:t>
            </a:r>
          </a:p>
          <a:p>
            <a:pPr marL="493395" lvl="1">
              <a:buFont typeface="Courier New" panose="020B0604020202020204" pitchFamily="34" charset="0"/>
              <a:buChar char="o"/>
            </a:pPr>
            <a:r>
              <a:rPr lang="en-US"/>
              <a:t>Made the footprint of the case as tight as possible and then started building upwards. To fit things like the ears and mounting holes</a:t>
            </a:r>
          </a:p>
          <a:p>
            <a:r>
              <a:rPr lang="en-US"/>
              <a:t>First time soldering with such small and compact components took a lot of patience.</a:t>
            </a:r>
          </a:p>
          <a:p>
            <a:endParaRPr lang="en-US"/>
          </a:p>
          <a:p>
            <a:endParaRPr lang="en-US"/>
          </a:p>
        </p:txBody>
      </p:sp>
    </p:spTree>
    <p:extLst>
      <p:ext uri="{BB962C8B-B14F-4D97-AF65-F5344CB8AC3E}">
        <p14:creationId xmlns:p14="http://schemas.microsoft.com/office/powerpoint/2010/main" val="2231840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8725F-B641-FF3D-5DEB-AFE031832466}"/>
            </a:ext>
          </a:extLst>
        </p:cNvPr>
        <p:cNvGrpSpPr/>
        <p:nvPr/>
      </p:nvGrpSpPr>
      <p:grpSpPr>
        <a:xfrm>
          <a:off x="0" y="0"/>
          <a:ext cx="0" cy="0"/>
          <a:chOff x="0" y="0"/>
          <a:chExt cx="0" cy="0"/>
        </a:xfrm>
      </p:grpSpPr>
      <p:pic>
        <p:nvPicPr>
          <p:cNvPr id="6" name="Picture 5" descr="Download Free Next steps Icons in PNG &amp; SVG">
            <a:extLst>
              <a:ext uri="{FF2B5EF4-FFF2-40B4-BE49-F238E27FC236}">
                <a16:creationId xmlns:a16="http://schemas.microsoft.com/office/drawing/2014/main" id="{69E70C87-D7A5-7EFE-6F3D-5A05642FC71B}"/>
              </a:ext>
            </a:extLst>
          </p:cNvPr>
          <p:cNvPicPr>
            <a:picLocks noChangeAspect="1"/>
          </p:cNvPicPr>
          <p:nvPr/>
        </p:nvPicPr>
        <p:blipFill>
          <a:blip r:embed="rId2">
            <a:alphaModFix amt="27000"/>
          </a:blip>
          <a:stretch>
            <a:fillRect/>
          </a:stretch>
        </p:blipFill>
        <p:spPr>
          <a:xfrm flipH="1">
            <a:off x="2836190" y="595395"/>
            <a:ext cx="6015924" cy="5964263"/>
          </a:xfrm>
          <a:prstGeom prst="rect">
            <a:avLst/>
          </a:prstGeom>
        </p:spPr>
      </p:pic>
      <p:sp>
        <p:nvSpPr>
          <p:cNvPr id="2" name="Title 1">
            <a:extLst>
              <a:ext uri="{FF2B5EF4-FFF2-40B4-BE49-F238E27FC236}">
                <a16:creationId xmlns:a16="http://schemas.microsoft.com/office/drawing/2014/main" id="{23BB11A3-5ABC-299D-4964-90BCCC71C724}"/>
              </a:ext>
            </a:extLst>
          </p:cNvPr>
          <p:cNvSpPr>
            <a:spLocks noGrp="1"/>
          </p:cNvSpPr>
          <p:nvPr>
            <p:ph type="title"/>
          </p:nvPr>
        </p:nvSpPr>
        <p:spPr/>
        <p:txBody>
          <a:bodyPr/>
          <a:lstStyle/>
          <a:p>
            <a:r>
              <a:rPr lang="en-US"/>
              <a:t>Next Steps</a:t>
            </a:r>
          </a:p>
        </p:txBody>
      </p:sp>
      <p:sp>
        <p:nvSpPr>
          <p:cNvPr id="8" name="Text Placeholder 7">
            <a:extLst>
              <a:ext uri="{FF2B5EF4-FFF2-40B4-BE49-F238E27FC236}">
                <a16:creationId xmlns:a16="http://schemas.microsoft.com/office/drawing/2014/main" id="{9C1EFEAF-7325-045E-50FC-21704587025C}"/>
              </a:ext>
            </a:extLst>
          </p:cNvPr>
          <p:cNvSpPr>
            <a:spLocks noGrp="1"/>
          </p:cNvSpPr>
          <p:nvPr>
            <p:ph type="body" idx="1"/>
          </p:nvPr>
        </p:nvSpPr>
        <p:spPr>
          <a:xfrm>
            <a:off x="640079" y="2081314"/>
            <a:ext cx="5212080" cy="695373"/>
          </a:xfrm>
        </p:spPr>
        <p:txBody>
          <a:bodyPr/>
          <a:lstStyle/>
          <a:p>
            <a:r>
              <a:rPr lang="en-US"/>
              <a:t>Software</a:t>
            </a:r>
          </a:p>
        </p:txBody>
      </p:sp>
      <p:sp>
        <p:nvSpPr>
          <p:cNvPr id="4" name="Content Placeholder 3">
            <a:extLst>
              <a:ext uri="{FF2B5EF4-FFF2-40B4-BE49-F238E27FC236}">
                <a16:creationId xmlns:a16="http://schemas.microsoft.com/office/drawing/2014/main" id="{F5C2E38C-1196-6D6D-1462-4056DD8C7986}"/>
              </a:ext>
            </a:extLst>
          </p:cNvPr>
          <p:cNvSpPr>
            <a:spLocks noGrp="1"/>
          </p:cNvSpPr>
          <p:nvPr>
            <p:ph sz="half" idx="2"/>
          </p:nvPr>
        </p:nvSpPr>
        <p:spPr>
          <a:xfrm>
            <a:off x="640079" y="2776687"/>
            <a:ext cx="5212080" cy="3191256"/>
          </a:xfrm>
        </p:spPr>
        <p:txBody>
          <a:bodyPr vert="horz" lIns="91440" tIns="45720" rIns="91440" bIns="45720" rtlCol="0" anchor="t">
            <a:noAutofit/>
          </a:bodyPr>
          <a:lstStyle/>
          <a:p>
            <a:r>
              <a:rPr lang="en-US" sz="1600" b="1"/>
              <a:t>Reduce Required Volunteers</a:t>
            </a:r>
          </a:p>
          <a:p>
            <a:pPr marL="493395" lvl="1">
              <a:buFont typeface="Courier New" panose="020B0604020202020204" pitchFamily="34" charset="0"/>
              <a:buChar char="o"/>
            </a:pPr>
            <a:r>
              <a:rPr lang="en-US" sz="1400"/>
              <a:t>Because model is above to 90% accuracy, we can reduce the number of needed volunteers</a:t>
            </a:r>
          </a:p>
          <a:p>
            <a:r>
              <a:rPr lang="en-US" sz="1600" b="1"/>
              <a:t>Begin Working with Raspberry Pi</a:t>
            </a:r>
          </a:p>
          <a:p>
            <a:pPr marL="493395" lvl="1">
              <a:buFont typeface="Courier New" panose="020B0604020202020204" pitchFamily="34" charset="0"/>
              <a:buChar char="o"/>
            </a:pPr>
            <a:r>
              <a:rPr lang="en-US" sz="1600"/>
              <a:t>Migrate Gesture Model to Raspberry Pi</a:t>
            </a:r>
          </a:p>
          <a:p>
            <a:pPr marL="493395" lvl="1">
              <a:buFont typeface="Courier New" panose="020B0604020202020204" pitchFamily="34" charset="0"/>
              <a:buChar char="o"/>
            </a:pPr>
            <a:r>
              <a:rPr lang="en-US" sz="1600"/>
              <a:t>Integrate Gesture Model with </a:t>
            </a:r>
            <a:r>
              <a:rPr lang="en-US" sz="1600" err="1"/>
              <a:t>FlexType</a:t>
            </a:r>
            <a:r>
              <a:rPr lang="en-US" sz="1600"/>
              <a:t> Model</a:t>
            </a:r>
          </a:p>
          <a:p>
            <a:pPr marL="493395" lvl="1">
              <a:buFont typeface="Courier New" panose="020B0604020202020204" pitchFamily="34" charset="0"/>
              <a:buChar char="o"/>
            </a:pPr>
            <a:r>
              <a:rPr lang="en-US" sz="1600"/>
              <a:t>Create main driver/ code for live data recording and interpretation</a:t>
            </a:r>
          </a:p>
          <a:p>
            <a:pPr lvl="2">
              <a:buFont typeface="Wingdings" panose="020B0604020202020204" pitchFamily="34" charset="0"/>
              <a:buChar char="§"/>
            </a:pPr>
            <a:r>
              <a:rPr lang="en-US" sz="1400"/>
              <a:t>Take in live EMG data</a:t>
            </a:r>
          </a:p>
          <a:p>
            <a:pPr lvl="2">
              <a:buFont typeface="Wingdings" panose="020B0604020202020204" pitchFamily="34" charset="0"/>
              <a:buChar char="§"/>
            </a:pPr>
            <a:r>
              <a:rPr lang="en-US" sz="1400"/>
              <a:t>Send to gesture recognition model</a:t>
            </a:r>
          </a:p>
          <a:p>
            <a:pPr lvl="2">
              <a:buFont typeface="Wingdings" panose="020B0604020202020204" pitchFamily="34" charset="0"/>
              <a:buChar char="§"/>
            </a:pPr>
            <a:r>
              <a:rPr lang="en-US" sz="1400"/>
              <a:t>Submit gestures to word prediction model</a:t>
            </a:r>
          </a:p>
          <a:p>
            <a:pPr lvl="2">
              <a:buFont typeface="Wingdings" panose="020B0604020202020204" pitchFamily="34" charset="0"/>
              <a:buChar char="§"/>
            </a:pPr>
            <a:r>
              <a:rPr lang="en-US" sz="1400"/>
              <a:t>Output predicted text</a:t>
            </a:r>
          </a:p>
          <a:p>
            <a:pPr lvl="2">
              <a:buFont typeface="Wingdings" panose="020B0604020202020204" pitchFamily="34" charset="0"/>
              <a:buChar char="§"/>
            </a:pPr>
            <a:endParaRPr lang="en-US" sz="1800"/>
          </a:p>
          <a:p>
            <a:pPr marL="493395" lvl="1">
              <a:buFont typeface="Courier New" panose="020B0604020202020204" pitchFamily="34" charset="0"/>
              <a:buChar char="o"/>
            </a:pPr>
            <a:endParaRPr lang="en-US" sz="2000"/>
          </a:p>
          <a:p>
            <a:pPr marL="493395" lvl="1">
              <a:buFont typeface="Courier New" panose="020B0604020202020204" pitchFamily="34" charset="0"/>
              <a:buChar char="o"/>
            </a:pPr>
            <a:endParaRPr lang="en-US"/>
          </a:p>
          <a:p>
            <a:endParaRPr lang="en-US" b="1"/>
          </a:p>
        </p:txBody>
      </p:sp>
      <p:sp>
        <p:nvSpPr>
          <p:cNvPr id="9" name="Text Placeholder 8">
            <a:extLst>
              <a:ext uri="{FF2B5EF4-FFF2-40B4-BE49-F238E27FC236}">
                <a16:creationId xmlns:a16="http://schemas.microsoft.com/office/drawing/2014/main" id="{B90B5094-33E8-F686-1008-BAB6FE988390}"/>
              </a:ext>
            </a:extLst>
          </p:cNvPr>
          <p:cNvSpPr>
            <a:spLocks noGrp="1"/>
          </p:cNvSpPr>
          <p:nvPr>
            <p:ph type="body" sz="quarter" idx="3"/>
          </p:nvPr>
        </p:nvSpPr>
        <p:spPr>
          <a:xfrm>
            <a:off x="6318928" y="2081314"/>
            <a:ext cx="5212080" cy="695373"/>
          </a:xfrm>
        </p:spPr>
        <p:txBody>
          <a:bodyPr/>
          <a:lstStyle/>
          <a:p>
            <a:r>
              <a:rPr lang="en-US"/>
              <a:t>Hardware</a:t>
            </a:r>
          </a:p>
        </p:txBody>
      </p:sp>
      <p:sp>
        <p:nvSpPr>
          <p:cNvPr id="7" name="Content Placeholder 6">
            <a:extLst>
              <a:ext uri="{FF2B5EF4-FFF2-40B4-BE49-F238E27FC236}">
                <a16:creationId xmlns:a16="http://schemas.microsoft.com/office/drawing/2014/main" id="{7E463B04-31F7-6C79-270B-3905E2BA69E5}"/>
              </a:ext>
            </a:extLst>
          </p:cNvPr>
          <p:cNvSpPr>
            <a:spLocks noGrp="1"/>
          </p:cNvSpPr>
          <p:nvPr>
            <p:ph sz="quarter" idx="4"/>
          </p:nvPr>
        </p:nvSpPr>
        <p:spPr>
          <a:xfrm>
            <a:off x="6318928" y="2776687"/>
            <a:ext cx="5212080" cy="3191256"/>
          </a:xfrm>
        </p:spPr>
        <p:txBody>
          <a:bodyPr vert="horz" lIns="91440" tIns="45720" rIns="91440" bIns="45720" rtlCol="0" anchor="t">
            <a:normAutofit fontScale="85000" lnSpcReduction="10000"/>
          </a:bodyPr>
          <a:lstStyle/>
          <a:p>
            <a:r>
              <a:rPr lang="en-US" sz="1900" b="1"/>
              <a:t>Combine PCB with Remaining Components</a:t>
            </a:r>
          </a:p>
          <a:p>
            <a:pPr marL="493395" lvl="1">
              <a:buFont typeface="Courier New" panose="020B0604020202020204" pitchFamily="34" charset="0"/>
              <a:buChar char="o"/>
            </a:pPr>
            <a:r>
              <a:rPr lang="en-US" sz="1700"/>
              <a:t>Once the remaining components arrive, we will finish assembling the PCBs</a:t>
            </a:r>
          </a:p>
          <a:p>
            <a:r>
              <a:rPr lang="en-US" sz="1900" b="1"/>
              <a:t>Connect PCB with Raspberry Pi for Live Data Gathering</a:t>
            </a:r>
          </a:p>
          <a:p>
            <a:pPr marL="493395" lvl="1">
              <a:buFont typeface="Courier New" panose="020B0604020202020204" pitchFamily="34" charset="0"/>
              <a:buChar char="o"/>
            </a:pPr>
            <a:r>
              <a:rPr lang="en-US" sz="1900"/>
              <a:t>Start testing the functionality of the PCB so it is ready for software integration</a:t>
            </a:r>
          </a:p>
          <a:p>
            <a:r>
              <a:rPr lang="en-US" sz="2100" b="1"/>
              <a:t>Word Prediction Model on Raspberry Pi</a:t>
            </a:r>
          </a:p>
          <a:p>
            <a:pPr marL="493395" lvl="1">
              <a:buFont typeface="Courier New" panose="020B0604020202020204" pitchFamily="34" charset="0"/>
              <a:buChar char="o"/>
            </a:pPr>
            <a:r>
              <a:rPr lang="en-US" sz="1900"/>
              <a:t>Raspberry Pi will have to access the word model via Dylan's server and not locally</a:t>
            </a:r>
          </a:p>
          <a:p>
            <a:pPr marL="493395" lvl="1">
              <a:buFont typeface="Courier New" panose="020B0604020202020204" pitchFamily="34" charset="0"/>
              <a:buChar char="o"/>
            </a:pPr>
            <a:endParaRPr lang="en-US" sz="1700"/>
          </a:p>
        </p:txBody>
      </p:sp>
    </p:spTree>
    <p:extLst>
      <p:ext uri="{BB962C8B-B14F-4D97-AF65-F5344CB8AC3E}">
        <p14:creationId xmlns:p14="http://schemas.microsoft.com/office/powerpoint/2010/main" val="3234573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8C1FB7-1C6D-76F1-B0F9-43B207611077}"/>
              </a:ext>
            </a:extLst>
          </p:cNvPr>
          <p:cNvSpPr>
            <a:spLocks noGrp="1"/>
          </p:cNvSpPr>
          <p:nvPr>
            <p:ph type="title" idx="4294967295"/>
          </p:nvPr>
        </p:nvSpPr>
        <p:spPr>
          <a:xfrm>
            <a:off x="7537528" y="1032764"/>
            <a:ext cx="4308672" cy="3224045"/>
          </a:xfrm>
        </p:spPr>
        <p:txBody>
          <a:bodyPr vert="horz" lIns="91440" tIns="45720" rIns="91440" bIns="45720" rtlCol="0" anchor="b">
            <a:normAutofit/>
          </a:bodyPr>
          <a:lstStyle/>
          <a:p>
            <a:r>
              <a:rPr lang="en-US" sz="5800" b="1" kern="1200">
                <a:solidFill>
                  <a:schemeClr val="tx1"/>
                </a:solidFill>
                <a:latin typeface="+mj-lt"/>
                <a:ea typeface="+mj-ea"/>
                <a:cs typeface="+mj-cs"/>
              </a:rPr>
              <a:t>Questions</a:t>
            </a:r>
          </a:p>
        </p:txBody>
      </p:sp>
      <p:pic>
        <p:nvPicPr>
          <p:cNvPr id="6" name="Picture 5" descr="Question png Vectors - Download Free High-Quality Vectors from Freepik |  Freepik">
            <a:extLst>
              <a:ext uri="{FF2B5EF4-FFF2-40B4-BE49-F238E27FC236}">
                <a16:creationId xmlns:a16="http://schemas.microsoft.com/office/drawing/2014/main" id="{6C946CD4-6E43-A4F3-7F51-AC526484FD51}"/>
              </a:ext>
            </a:extLst>
          </p:cNvPr>
          <p:cNvPicPr>
            <a:picLocks noChangeAspect="1"/>
          </p:cNvPicPr>
          <p:nvPr/>
        </p:nvPicPr>
        <p:blipFill>
          <a:blip r:embed="rId2"/>
          <a:srcRect t="1055" r="1" b="1"/>
          <a:stretch>
            <a:fillRect/>
          </a:stretch>
        </p:blipFill>
        <p:spPr>
          <a:xfrm>
            <a:off x="20" y="10"/>
            <a:ext cx="6931132" cy="6857990"/>
          </a:xfrm>
          <a:prstGeom prst="rect">
            <a:avLst/>
          </a:prstGeom>
        </p:spPr>
      </p:pic>
      <p:cxnSp>
        <p:nvCxnSpPr>
          <p:cNvPr id="15" name="Straight Connector 14">
            <a:extLst>
              <a:ext uri="{FF2B5EF4-FFF2-40B4-BE49-F238E27FC236}">
                <a16:creationId xmlns:a16="http://schemas.microsoft.com/office/drawing/2014/main" id="{6CA391F1-4B2C-521B-F6A5-52C74B3034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75848" y="47115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9836608"/>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18</Slides>
  <Notes>0</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DashVTI</vt:lpstr>
      <vt:lpstr>FlexType EMG Keyboard</vt:lpstr>
      <vt:lpstr>Project Overview</vt:lpstr>
      <vt:lpstr>Recap of Milestone #1</vt:lpstr>
      <vt:lpstr>Milestone #2 Goals &amp; Objectives</vt:lpstr>
      <vt:lpstr>Our Database</vt:lpstr>
      <vt:lpstr>Current Model Performance</vt:lpstr>
      <vt:lpstr>Current Model Performance</vt:lpstr>
      <vt:lpstr>Best Gestures</vt:lpstr>
      <vt:lpstr>Existing FlexType Model</vt:lpstr>
      <vt:lpstr>PCB Design Milestone</vt:lpstr>
      <vt:lpstr>PCB Designs</vt:lpstr>
      <vt:lpstr>Case Design Milestone</vt:lpstr>
      <vt:lpstr>Case Design Control Board PCB </vt:lpstr>
      <vt:lpstr>Case Design Electrode Board PCB </vt:lpstr>
      <vt:lpstr>Accomplishments </vt:lpstr>
      <vt:lpstr>Challenges and Obstacles </vt:lpstr>
      <vt:lpstr>Next Steps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FlexType EMG Keyboard</dc:title>
  <dc:creator/>
  <cp:revision>2</cp:revision>
  <dcterms:created xsi:type="dcterms:W3CDTF">2026-02-25T02:04:29Z</dcterms:created>
  <dcterms:modified xsi:type="dcterms:W3CDTF">2026-05-09T01:06:33Z</dcterms:modified>
</cp:coreProperties>
</file>